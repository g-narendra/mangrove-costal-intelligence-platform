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0233600" cy="4023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4" d="100"/>
          <a:sy n="14" d="100"/>
        </p:scale>
        <p:origin x="2165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(%)</c:v>
                </c:pt>
              </c:strCache>
            </c:strRef>
          </c:tx>
          <c:spPr>
            <a:solidFill>
              <a:srgbClr val="303F9F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01A2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Tidal edge flow</c:v>
                </c:pt>
                <c:pt idx="1">
                  <c:v>PAI (Plant Area Index)</c:v>
                </c:pt>
                <c:pt idx="2">
                  <c:v>RH100 (GEDI canopy)</c:v>
                </c:pt>
                <c:pt idx="3">
                  <c:v>SAR VV backscatter</c:v>
                </c:pt>
                <c:pt idx="4">
                  <c:v>NDVI (Sentinel-2)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21</c:v>
                </c:pt>
                <c:pt idx="3">
                  <c:v>29</c:v>
                </c:pt>
                <c:pt idx="4">
                  <c:v>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403-4825-9F4B-EC4D9CEE44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2DC"/>
            </a:solidFill>
          </a:ln>
        </c:spPr>
        <c:txPr>
          <a:bodyPr/>
          <a:lstStyle/>
          <a:p>
            <a:pPr>
              <a:defRPr sz="1600">
                <a:solidFill>
                  <a:srgbClr val="101A2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C8D2DC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233600" cy="420624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41648"/>
            <a:ext cx="40233600" cy="164592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377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CCE8"/>
                </a:solidFill>
                <a:latin typeface="Calibri"/>
              </a:rPr>
              <a:t>MSc DS &amp; AI  |  CST4090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2004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Cambria"/>
              </a:rPr>
              <a:t>Mangrove Carbon Intelligence Platform (MCIP)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320040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CCE8"/>
                </a:solidFill>
                <a:latin typeface="Calibri"/>
              </a:rPr>
              <a:t>Spatio-Temporal Graph Neural Networks for Automated Blue Carbon MRV in UAE Mangrove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55264"/>
            <a:ext cx="32004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Narendra Gandikota   |   NG661@live.mdx.ac.uk   |   MSc Data Science &amp; AI   |   Supervisor: Dr. Krishnadas Nanath   |   October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19" y="320039"/>
            <a:ext cx="658368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0" y="320039"/>
            <a:ext cx="6217920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A1428"/>
                </a:solidFill>
                <a:latin typeface="Cambria"/>
              </a:rPr>
              <a:t>Middlesex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A1428"/>
                </a:solidFill>
                <a:latin typeface="Cambria"/>
              </a:rPr>
              <a:t>University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CC0000"/>
                </a:solidFill>
                <a:latin typeface="Cambria"/>
              </a:rPr>
              <a:t>Dubai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90288"/>
            <a:ext cx="12850368" cy="29791152"/>
          </a:xfrm>
          <a:prstGeom prst="rect">
            <a:avLst/>
          </a:prstGeom>
          <a:solidFill>
            <a:srgbClr val="F5F8FC"/>
          </a:solidFill>
          <a:ln w="1587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691616" y="4590288"/>
            <a:ext cx="12850368" cy="29791152"/>
          </a:xfrm>
          <a:prstGeom prst="rect">
            <a:avLst/>
          </a:prstGeom>
          <a:solidFill>
            <a:srgbClr val="F5F8FC"/>
          </a:solidFill>
          <a:ln w="1587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26032" y="4590288"/>
            <a:ext cx="12850368" cy="29791152"/>
          </a:xfrm>
          <a:prstGeom prst="rect">
            <a:avLst/>
          </a:prstGeom>
          <a:solidFill>
            <a:srgbClr val="F5F8FC"/>
          </a:solidFill>
          <a:ln w="1587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3504" y="4791455"/>
            <a:ext cx="12557760" cy="109728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4791455"/>
            <a:ext cx="201168" cy="1097280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9264" y="5029199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A14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91455"/>
            <a:ext cx="111495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632764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629107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6857999"/>
            <a:ext cx="12009120" cy="2165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01A28"/>
                </a:solidFill>
                <a:latin typeface="Calibri"/>
              </a:rPr>
              <a:t>The UAE's 40,000+ hectares of coastal mangroves are among the most carbon-dense ecosystems on Earth — sequestering up to 6 tCO₂e/ha/year. Yet no automated Measurement, Reporting and Verification (MRV) system exists to quantify or trade these carbon stocks. Manual field verification costs $50,000+ per cycle and takes 3–6 months, leaving UAE mangroves commercially invisible on the $2 billion Voluntary Carbon Market.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9499473"/>
            <a:ext cx="3807968" cy="320040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9645777"/>
            <a:ext cx="3551935" cy="185623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E5B0"/>
                </a:solidFill>
                <a:latin typeface="Cambria"/>
              </a:rPr>
              <a:t>40K+ 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11419713"/>
            <a:ext cx="3588511" cy="1184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UAE mangrove coverage monitored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8400" y="9499473"/>
            <a:ext cx="3807968" cy="320040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06416" y="9645777"/>
            <a:ext cx="3551935" cy="185623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E5B0"/>
                </a:solidFill>
                <a:latin typeface="Cambria"/>
              </a:rPr>
              <a:t>$2B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8128" y="11419713"/>
            <a:ext cx="3588511" cy="1184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Voluntary Carbon Market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8976" y="9499473"/>
            <a:ext cx="3807968" cy="320040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06992" y="9645777"/>
            <a:ext cx="3551935" cy="185623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E5B0"/>
                </a:solidFill>
                <a:latin typeface="Cambria"/>
              </a:rPr>
              <a:t>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8703" y="11419713"/>
            <a:ext cx="3588511" cy="1184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Potential MRV cost reduction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13376529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" y="13339953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RESEARCH MOTIVATION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13906881"/>
            <a:ext cx="12009120" cy="2594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5275" indent="-295275" algn="l">
              <a:lnSpc>
                <a:spcPct val="114000"/>
              </a:lnSpc>
              <a:spcAft>
                <a:spcPts val="2600"/>
              </a:spcAft>
              <a:buClr>
                <a:srgbClr val="00E5B0"/>
              </a:buClr>
              <a:buFont typeface="Arial"/>
              <a:buChar char="▪"/>
            </a:pPr>
            <a:r>
              <a:rPr sz="2000">
                <a:solidFill>
                  <a:srgbClr val="101A28"/>
                </a:solidFill>
                <a:latin typeface="Calibri"/>
              </a:rPr>
              <a:t>Automate carbon verification to cut costs by up to 70% vs. manual surveys</a:t>
            </a:r>
          </a:p>
          <a:p>
            <a:pPr marL="295275" indent="-295275" algn="l">
              <a:lnSpc>
                <a:spcPct val="114000"/>
              </a:lnSpc>
              <a:spcAft>
                <a:spcPts val="2600"/>
              </a:spcAft>
              <a:buClr>
                <a:srgbClr val="00E5B0"/>
              </a:buClr>
              <a:buFont typeface="Arial"/>
              <a:buChar char="▪"/>
            </a:pPr>
            <a:r>
              <a:rPr sz="2000">
                <a:solidFill>
                  <a:srgbClr val="101A28"/>
                </a:solidFill>
                <a:latin typeface="Calibri"/>
              </a:rPr>
              <a:t>Enable UAE regulators (MOCCAE, Abu Dhabi EA) to monitor 40,000+ ha monthly</a:t>
            </a:r>
          </a:p>
          <a:p>
            <a:pPr marL="295275" indent="-295275" algn="l">
              <a:lnSpc>
                <a:spcPct val="114000"/>
              </a:lnSpc>
              <a:spcAft>
                <a:spcPts val="2600"/>
              </a:spcAft>
              <a:buClr>
                <a:srgbClr val="00E5B0"/>
              </a:buClr>
              <a:buFont typeface="Arial"/>
              <a:buChar char="▪"/>
            </a:pPr>
            <a:r>
              <a:rPr sz="2000">
                <a:solidFill>
                  <a:srgbClr val="101A28"/>
                </a:solidFill>
                <a:latin typeface="Calibri"/>
              </a:rPr>
              <a:t>Unlock UAE mangroves in the $2B international Verra VM0033 carbon market</a:t>
            </a:r>
          </a:p>
          <a:p>
            <a:pPr marL="295275" indent="-295275" algn="l">
              <a:lnSpc>
                <a:spcPct val="114000"/>
              </a:lnSpc>
              <a:spcAft>
                <a:spcPts val="2600"/>
              </a:spcAft>
              <a:buClr>
                <a:srgbClr val="00E5B0"/>
              </a:buClr>
              <a:buFont typeface="Arial"/>
              <a:buChar char="▪"/>
            </a:pPr>
            <a:r>
              <a:rPr sz="2000">
                <a:solidFill>
                  <a:srgbClr val="101A28"/>
                </a:solidFill>
                <a:latin typeface="Calibri"/>
              </a:rPr>
              <a:t>Apply ST-GNNs to a novel ecological domain with real-world regulatory impact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" y="17049775"/>
            <a:ext cx="12009120" cy="1618488"/>
          </a:xfrm>
          <a:prstGeom prst="roundRect">
            <a:avLst>
              <a:gd name="adj" fmla="val 45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52144" y="17196079"/>
            <a:ext cx="1146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CCE8"/>
                </a:solidFill>
                <a:latin typeface="Calibri"/>
              </a:rPr>
              <a:t>RESEARCH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" y="17525263"/>
            <a:ext cx="11460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FFFFF"/>
                </a:solidFill>
                <a:latin typeface="Calibri"/>
              </a:rPr>
              <a:t>Can a Spatio-Temporal Graph Neural Network trained on multi-source satellite data provide more accurate and explainable monthly carbon sequestration estimates and 12-month forecasts than non-spatial and non-temporal baseline models?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19290055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8992" y="19253479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RESEARCH OBJECTIVES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" y="19838695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5" y="19802119"/>
            <a:ext cx="11478768" cy="438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Build an ANN classifier for UAE mangrove pixel identification using Sentinel-1/2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" y="20651495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5" y="20614919"/>
            <a:ext cx="11478768" cy="730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Develop a neural imputation engine for missing NASA GEDI LiDAR data via Sundarbans transfer learning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" y="21645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8175" y="21609136"/>
            <a:ext cx="11478768" cy="730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Construct spatio-temporal graph: DBSCAN patches as nodes; tidal flow direction &amp; cluster distance as edges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" y="2263992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08175" y="22603353"/>
            <a:ext cx="11478768" cy="438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Train ST-GNN on 61-month time-series; benchmark against 4 baselines (RF, Graph-RF, LSTM, GCN)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" y="2345272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8175" y="23416153"/>
            <a:ext cx="11478768" cy="438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Build a SHAP explainability engine for Verra VM0033 Additionality &amp; Permanence audit compliance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" y="2426552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08175" y="24228953"/>
            <a:ext cx="11478768" cy="438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01A28"/>
                </a:solidFill>
                <a:latin typeface="Calibri"/>
              </a:rPr>
              <a:t>Deploy as Coastal Sentinel — a Next.js + Firebase web 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7824" y="2564525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8992" y="2560868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DATASET OVERVIEW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877824" y="26175609"/>
          <a:ext cx="12009118" cy="566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2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ESA Sentinel-2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Multispectral 10m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Jan 2021–May 2026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ESA Sentinel-1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SAR C-band (VV/VH)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Jan 2021–May 2026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NASA GEDI L2A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LiDAR canopy height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Sparse ~4%/month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OpenWeatherMap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Historical weather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5 years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NewsAPI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Environmental events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3,230 coord. pts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Manual classification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A28"/>
                          </a:solidFill>
                          <a:latin typeface="Calibri"/>
                        </a:rPr>
                        <a:t>UAE coastline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877824" y="32247225"/>
            <a:ext cx="12009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445260"/>
                </a:solidFill>
                <a:latin typeface="Calibri"/>
              </a:rPr>
              <a:t>Dataset spans 61 months (Jan 2021 – May 2026) across the UAE coastline, combining optical, radar, LiDAR, weather and event-news sources.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837920" y="4791455"/>
            <a:ext cx="12557760" cy="109728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3837920" y="4791455"/>
            <a:ext cx="201168" cy="1097280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4203680" y="5029199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A1428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63216" y="4791455"/>
            <a:ext cx="111495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METHODS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12240" y="632764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313408" y="629107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METHODOLOGY PIPELINE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112240" y="6857999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4615160" y="6857999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980920" y="6857999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GEE Satellite Ingestion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19961352" y="759317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4112240" y="781812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615160" y="781812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980920" y="781812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Synchronicity Gate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19961352" y="855329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4112240" y="877824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615160" y="877824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80920" y="877824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ANN Mangrove Classifier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19961352" y="951341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4112240" y="973836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4615160" y="973836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980920" y="973836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Neural GEDI Imputation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19961352" y="1047353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4112240" y="1069848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615160" y="1069848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980920" y="1069848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IPCC Tier-2 Carbon Calculator</a:t>
            </a:r>
          </a:p>
        </p:txBody>
      </p:sp>
      <p:sp>
        <p:nvSpPr>
          <p:cNvPr id="78" name="Down Arrow 77"/>
          <p:cNvSpPr/>
          <p:nvPr/>
        </p:nvSpPr>
        <p:spPr>
          <a:xfrm>
            <a:off x="19961352" y="1143365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4112240" y="1165860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4615160" y="1165860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80920" y="1165860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DBSCAN Patch Delineation</a:t>
            </a:r>
          </a:p>
        </p:txBody>
      </p:sp>
      <p:sp>
        <p:nvSpPr>
          <p:cNvPr id="82" name="Down Arrow 81"/>
          <p:cNvSpPr/>
          <p:nvPr/>
        </p:nvSpPr>
        <p:spPr>
          <a:xfrm>
            <a:off x="19961352" y="1239377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4112240" y="1261872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4615160" y="1261872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980920" y="1261872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Graph Construction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19961352" y="1335389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4112240" y="1357884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4615160" y="1357884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980920" y="1357884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ST-GNN Training + Forecasting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9961352" y="1431401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14112240" y="1453896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4615160" y="1453896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980920" y="1453896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SHAP Explainability Engine</a:t>
            </a:r>
          </a:p>
        </p:txBody>
      </p:sp>
      <p:sp>
        <p:nvSpPr>
          <p:cNvPr id="94" name="Down Arrow 93"/>
          <p:cNvSpPr/>
          <p:nvPr/>
        </p:nvSpPr>
        <p:spPr>
          <a:xfrm>
            <a:off x="19961352" y="15274137"/>
            <a:ext cx="310896" cy="170078"/>
          </a:xfrm>
          <a:prstGeom prst="downArrow">
            <a:avLst/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14112240" y="15499080"/>
            <a:ext cx="12009120" cy="68580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4615160" y="15499080"/>
            <a:ext cx="1132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CE8"/>
                </a:solidFill>
                <a:latin typeface="Consolas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980920" y="15499080"/>
            <a:ext cx="1095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Coastal Sentinel Dashboard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112240" y="16532352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4313408" y="16495776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GRAPH CONSTRUCTION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112240" y="17062704"/>
            <a:ext cx="12009120" cy="1698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3,230 coordinate points grouped into patches via DBSCAN (Haversine metric)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Nodes: each DBSCAN patch = one graph node (N patches total)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7 undirected edges: distance-based (closer mangrove clusters)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73 directed edges: tidal proxy (flow direction to shore → ocean)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112240" y="19072494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4313408" y="19035918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ST-GNN ARCHITECTURE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112240" y="19602846"/>
            <a:ext cx="12009120" cy="1698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Input tensor: X ∈ ℝ^(N×T×F)  |  T = 3 months lookback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Spatial layer: GCN — Â = D̃^(−½)·Ã·D̃^(−½) (sym. normalised adjacency)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Temporal layer: LSTM over 3 sequential monthly snapshots per node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Auto-regressive 12-step forecast; ±5% (m1–2) → ±25% (m9–12) confidence bands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4112240" y="21576060"/>
            <a:ext cx="12009120" cy="1181290"/>
          </a:xfrm>
          <a:prstGeom prst="roundRect">
            <a:avLst>
              <a:gd name="adj" fmla="val 4500"/>
            </a:avLst>
          </a:prstGeom>
          <a:solidFill>
            <a:srgbClr val="12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4349984" y="21722364"/>
            <a:ext cx="11533632" cy="925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00CCE8"/>
                </a:solidFill>
                <a:latin typeface="Calibri"/>
              </a:rPr>
              <a:t>MANGROVE HEALTH SCORE (MHS)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FFFFFF"/>
                </a:solidFill>
                <a:latin typeface="Consolas"/>
              </a:rPr>
              <a:t>MHS = (NDVI×40) + ((RH100÷10)×30) + ((Absorption÷15)×30)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FFFFFF"/>
                </a:solidFill>
                <a:latin typeface="Consolas"/>
              </a:rPr>
              <a:t>NDVI=vigour (40%)   RH100=canopy height (30%)   Absorption=C rate (30%)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4112240" y="22995094"/>
            <a:ext cx="12009120" cy="1181290"/>
          </a:xfrm>
          <a:prstGeom prst="roundRect">
            <a:avLst>
              <a:gd name="adj" fmla="val 4500"/>
            </a:avLst>
          </a:prstGeom>
          <a:solidFill>
            <a:srgbClr val="12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4349984" y="23141398"/>
            <a:ext cx="11533632" cy="925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00CCE8"/>
                </a:solidFill>
                <a:latin typeface="Calibri"/>
              </a:rPr>
              <a:t>IPCC TIER-2 CARBON ACCOUNTING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FFFFFF"/>
                </a:solidFill>
                <a:latin typeface="Consolas"/>
              </a:rPr>
              <a:t>Carbon Stock (MgC/ha) = Biomass × 0.47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FFFFFF"/>
                </a:solidFill>
                <a:latin typeface="Consolas"/>
              </a:rPr>
              <a:t>CO₂e (tCO₂e/ha)       = Carbon Stock × (44 ÷ 12)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112240" y="2452385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4313408" y="2448728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TEMPORAL TRAIN / VALIDATION / TEST SPLIT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14112240" y="25054209"/>
          <a:ext cx="12009120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3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Jan 2021 – Dec 2024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Jan 2025 – Jun 2025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Test (held-out)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Jul 2025 – May 2026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A2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1" name="Rectangle 110"/>
          <p:cNvSpPr/>
          <p:nvPr/>
        </p:nvSpPr>
        <p:spPr>
          <a:xfrm>
            <a:off x="14112240" y="27962001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4313408" y="27925425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BASELINE MODELS — ABLATION STUDY</a:t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14112240" y="28492353"/>
          <a:ext cx="12009118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4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Non-spatial, non-temporal baseline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Graph Random Forest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Graph embeddings; no temporal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Pure LSTM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Temporal only; no graph structure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Static GCN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A28"/>
                          </a:solidFill>
                          <a:latin typeface="Calibri"/>
                        </a:rPr>
                        <a:t>Spatial only; no temporal sequence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03F9F"/>
                          </a:solidFill>
                          <a:latin typeface="Calibri"/>
                        </a:rPr>
                        <a:t>ST-GNN (proposed)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03F9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03F9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03F9F"/>
                          </a:solidFill>
                          <a:latin typeface="Calibri"/>
                        </a:rPr>
                        <a:t>Full spatial + temporal fusion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4" name="Rectangle 113"/>
          <p:cNvSpPr/>
          <p:nvPr/>
        </p:nvSpPr>
        <p:spPr>
          <a:xfrm>
            <a:off x="14112240" y="32607153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4313408" y="32570577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HARDWARE &amp; PLATFORM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112240" y="33137505"/>
            <a:ext cx="12009120" cy="128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Training: Google Colab TPU v5e-1 (Sentinel-1/2 + GEDI notebooks + model training)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Local: AMD Ryzen 7 5700U, 16GB RAM, Windows 11 — pipeline validation &amp; testing</a:t>
            </a:r>
          </a:p>
          <a:p>
            <a:pPr marL="295275" indent="-295275" algn="l">
              <a:lnSpc>
                <a:spcPct val="114000"/>
              </a:lnSpc>
              <a:spcAft>
                <a:spcPts val="1200"/>
              </a:spcAft>
              <a:buClr>
                <a:srgbClr val="00E5B0"/>
              </a:buClr>
              <a:buFont typeface="Arial"/>
              <a:buChar char="▪"/>
            </a:pPr>
            <a:r>
              <a:rPr sz="1700">
                <a:solidFill>
                  <a:srgbClr val="101A28"/>
                </a:solidFill>
                <a:latin typeface="Calibri"/>
              </a:rPr>
              <a:t>Deployment: Next.js + Firebase Firestore (UAE data-sovereign region: me-central1)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7072336" y="4791455"/>
            <a:ext cx="12557760" cy="109728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7072336" y="4791455"/>
            <a:ext cx="201168" cy="1097280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27438095" y="5029199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A1428"/>
                </a:solidFill>
                <a:latin typeface="Calibri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297632" y="4791455"/>
            <a:ext cx="111495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346656" y="632764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547824" y="629107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MODEL PERFORMANCE COMPARISON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27346656" y="6857999"/>
          <a:ext cx="12009117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1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1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1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RMSE
(MgC/ha)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MAE
(MgC/ha)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NSE</a:t>
                      </a:r>
                    </a:p>
                  </a:txBody>
                  <a:tcPr marL="88900" marR="88900" marT="50800" marB="50800" anchor="ctr">
                    <a:solidFill>
                      <a:srgbClr val="141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~0.38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~0.29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~0.61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~0.58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Graph RF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~0.29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~0.22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~0.72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~0.70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Pure LSTM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~0.24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~0.18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~0.79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~0.76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Static GCN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~0.21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~0.16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~0.81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A28"/>
                          </a:solidFill>
                          <a:latin typeface="Calibri"/>
                        </a:rPr>
                        <a:t>~0.79</a:t>
                      </a:r>
                    </a:p>
                  </a:txBody>
                  <a:tcPr marL="88900" marR="88900" marT="50800" marB="50800" anchor="ctr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303F9F"/>
                          </a:solidFill>
                          <a:latin typeface="Calibri"/>
                        </a:rPr>
                        <a:t>ST-GNN (ours)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03F9F"/>
                          </a:solidFill>
                          <a:latin typeface="Calibri"/>
                        </a:rPr>
                        <a:t>&lt; 0.15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03F9F"/>
                          </a:solidFill>
                          <a:latin typeface="Calibri"/>
                        </a:rPr>
                        <a:t>&lt; 0.12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03F9F"/>
                          </a:solidFill>
                          <a:latin typeface="Calibri"/>
                        </a:rPr>
                        <a:t>&gt; 0.85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03F9F"/>
                          </a:solidFill>
                          <a:latin typeface="Calibri"/>
                        </a:rPr>
                        <a:t>&gt; 0.80</a:t>
                      </a:r>
                    </a:p>
                  </a:txBody>
                  <a:tcPr marL="88900" marR="88900" marT="50800" marB="50800" anchor="ctr">
                    <a:solidFill>
                      <a:srgbClr val="C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27346656" y="11850624"/>
            <a:ext cx="1200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445260"/>
                </a:solidFill>
                <a:latin typeface="Calibri"/>
              </a:rPr>
              <a:t>ST-GNN values are target thresholds defined in the methodology (&lt; 0.15 RMSE, &gt; 0.85 R²).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7346656" y="12563855"/>
            <a:ext cx="12009120" cy="1232915"/>
          </a:xfrm>
          <a:prstGeom prst="roundRect">
            <a:avLst>
              <a:gd name="adj" fmla="val 4500"/>
            </a:avLst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7620976" y="12710159"/>
            <a:ext cx="1146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CCE8"/>
                </a:solidFill>
                <a:latin typeface="Calibri"/>
              </a:rPr>
              <a:t>KEY FINDING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620976" y="13039343"/>
            <a:ext cx="11460480" cy="665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FFFFFF"/>
                </a:solidFill>
                <a:latin typeface="Calibri"/>
              </a:rPr>
              <a:t>ST-GNN targets ~60% lower RMSE than the non-spatial, non-temporal Random Forest baseline — while SHAP attribution keeps every forecast fully explainable for carbon-credit audit.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346656" y="14235683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7547824" y="14199107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SHAP FEATURE ATTRIBUTION</a:t>
            </a:r>
          </a:p>
        </p:txBody>
      </p:sp>
      <p:graphicFrame>
        <p:nvGraphicFramePr>
          <p:cNvPr id="130" name="Chart 129"/>
          <p:cNvGraphicFramePr>
            <a:graphicFrameLocks noGrp="1"/>
          </p:cNvGraphicFramePr>
          <p:nvPr/>
        </p:nvGraphicFramePr>
        <p:xfrm>
          <a:off x="27346656" y="14766035"/>
          <a:ext cx="1200912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1" name="TextBox 130"/>
          <p:cNvSpPr txBox="1"/>
          <p:nvPr/>
        </p:nvSpPr>
        <p:spPr>
          <a:xfrm>
            <a:off x="27346656" y="20289011"/>
            <a:ext cx="12009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445260"/>
                </a:solidFill>
                <a:latin typeface="Calibri"/>
              </a:rPr>
              <a:t>NDVI and SAR backscatter are the strongest predictors of monthly carbon sequestration — consistent with IPCC Tier-2 biomass theory.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346656" y="2123998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7547824" y="2120341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DUAL ALERT SYSTEM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346656" y="21770339"/>
            <a:ext cx="12009120" cy="2228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95275" indent="-295275" algn="l">
              <a:lnSpc>
                <a:spcPct val="114000"/>
              </a:lnSpc>
              <a:spcAft>
                <a:spcPts val="2000"/>
              </a:spcAft>
              <a:buClr>
                <a:srgbClr val="00E5B0"/>
              </a:buClr>
              <a:buFont typeface="Arial"/>
              <a:buChar char="▪"/>
            </a:pPr>
            <a:r>
              <a:rPr sz="1900">
                <a:solidFill>
                  <a:srgbClr val="101A28"/>
                </a:solidFill>
                <a:latin typeface="Calibri"/>
              </a:rPr>
              <a:t>Level 1 (5–10% deviation): Informational — patch flagged for review</a:t>
            </a:r>
          </a:p>
          <a:p>
            <a:pPr marL="295275" indent="-295275" algn="l">
              <a:lnSpc>
                <a:spcPct val="114000"/>
              </a:lnSpc>
              <a:spcAft>
                <a:spcPts val="2000"/>
              </a:spcAft>
              <a:buClr>
                <a:srgbClr val="00E5B0"/>
              </a:buClr>
              <a:buFont typeface="Arial"/>
              <a:buChar char="▪"/>
            </a:pPr>
            <a:r>
              <a:rPr sz="1900">
                <a:solidFill>
                  <a:srgbClr val="101A28"/>
                </a:solidFill>
                <a:latin typeface="Calibri"/>
              </a:rPr>
              <a:t>Level 2 (10–20%): Warning + auto-generated SHAP causal narrative</a:t>
            </a:r>
          </a:p>
          <a:p>
            <a:pPr marL="295275" indent="-295275" algn="l">
              <a:lnSpc>
                <a:spcPct val="114000"/>
              </a:lnSpc>
              <a:spcAft>
                <a:spcPts val="2000"/>
              </a:spcAft>
              <a:buClr>
                <a:srgbClr val="00E5B0"/>
              </a:buClr>
              <a:buFont typeface="Arial"/>
              <a:buChar char="▪"/>
            </a:pPr>
            <a:r>
              <a:rPr sz="1900">
                <a:solidFill>
                  <a:srgbClr val="101A28"/>
                </a:solidFill>
                <a:latin typeface="Calibri"/>
              </a:rPr>
              <a:t>Level 3 (&gt;20%): Critical — proactive conservation intervention triggered</a:t>
            </a:r>
          </a:p>
          <a:p>
            <a:pPr marL="295275" indent="-295275" algn="l">
              <a:lnSpc>
                <a:spcPct val="114000"/>
              </a:lnSpc>
              <a:spcAft>
                <a:spcPts val="2000"/>
              </a:spcAft>
              <a:buClr>
                <a:srgbClr val="00E5B0"/>
              </a:buClr>
              <a:buFont typeface="Arial"/>
              <a:buChar char="▪"/>
            </a:pPr>
            <a:r>
              <a:rPr sz="1900">
                <a:solidFill>
                  <a:srgbClr val="101A28"/>
                </a:solidFill>
                <a:latin typeface="Calibri"/>
              </a:rPr>
              <a:t>Future alerts: 7-day forward weather scan per patch location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346656" y="24455607"/>
            <a:ext cx="109728" cy="329184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547824" y="24419031"/>
            <a:ext cx="118079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CCE8"/>
                </a:solidFill>
                <a:latin typeface="Calibri"/>
              </a:rPr>
              <a:t>PLATFORM STATISTICS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346656" y="24985959"/>
            <a:ext cx="5867399" cy="210312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7474672" y="25132263"/>
            <a:ext cx="5611367" cy="121980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E5B0"/>
                </a:solidFill>
                <a:latin typeface="Cambria"/>
              </a:rPr>
              <a:t>61 mo.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456384" y="26247831"/>
            <a:ext cx="5647943" cy="778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Satellite data processed (Jan 2021–May 2026)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3488375" y="24985959"/>
            <a:ext cx="5867399" cy="210312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3616391" y="25132263"/>
            <a:ext cx="5611367" cy="121980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E5B0"/>
                </a:solidFill>
                <a:latin typeface="Cambria"/>
              </a:rPr>
              <a:t>3,230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598103" y="26247831"/>
            <a:ext cx="5647943" cy="778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Verified mangrove coordinate points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7346656" y="27363399"/>
            <a:ext cx="5867399" cy="210312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7474672" y="27509703"/>
            <a:ext cx="5611367" cy="121980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E5B0"/>
                </a:solidFill>
                <a:latin typeface="Cambria"/>
              </a:rPr>
              <a:t>12-step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456384" y="28625271"/>
            <a:ext cx="5647943" cy="778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Auto-regressive forecast horizon (months)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488375" y="27363399"/>
            <a:ext cx="5867399" cy="2103120"/>
          </a:xfrm>
          <a:prstGeom prst="roundRect">
            <a:avLst>
              <a:gd name="adj" fmla="val 4500"/>
            </a:avLst>
          </a:prstGeom>
          <a:solidFill>
            <a:srgbClr val="08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33616391" y="27509703"/>
            <a:ext cx="5611367" cy="121980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E5B0"/>
                </a:solidFill>
                <a:latin typeface="Cambria"/>
              </a:rPr>
              <a:t>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598103" y="28625271"/>
            <a:ext cx="5647943" cy="778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Models benchmarked (4 baselines + ST-GNN)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346656" y="29887143"/>
            <a:ext cx="120091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445260"/>
                </a:solidFill>
                <a:latin typeface="Calibri"/>
              </a:rPr>
              <a:t>Data sovereignty maintained per UAE Federal Decree-Law No. 45/2021.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34674048"/>
            <a:ext cx="19467576" cy="4553711"/>
          </a:xfrm>
          <a:prstGeom prst="rect">
            <a:avLst/>
          </a:prstGeom>
          <a:solidFill>
            <a:srgbClr val="F5F8FC"/>
          </a:solidFill>
          <a:ln w="1587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0308824" y="34674048"/>
            <a:ext cx="19467576" cy="4553711"/>
          </a:xfrm>
          <a:prstGeom prst="rect">
            <a:avLst/>
          </a:prstGeom>
          <a:solidFill>
            <a:srgbClr val="F5F8FC"/>
          </a:solidFill>
          <a:ln w="1587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603504" y="34875216"/>
            <a:ext cx="19174968" cy="109728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603504" y="34875216"/>
            <a:ext cx="201168" cy="1097280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969264" y="351129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A1428"/>
                </a:solidFill>
                <a:latin typeface="Calibri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828800" y="34875216"/>
            <a:ext cx="1776679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77824" y="3633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A1428"/>
                </a:solidFill>
                <a:latin typeface="Calibri"/>
              </a:rPr>
              <a:t>✓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71600" y="36301679"/>
            <a:ext cx="18132552" cy="696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01A28"/>
                </a:solidFill>
                <a:latin typeface="Calibri"/>
              </a:rPr>
              <a:t>ST-GNN outperforms all 4 baseline models on RMSE, MAE, R² and NSE — confirming that spatial graph topology + temporal dynamics together provide measurable added predictive value.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77824" y="3712120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A1428"/>
                </a:solidFill>
                <a:latin typeface="Calibri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71600" y="37084629"/>
            <a:ext cx="18132552" cy="696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01A28"/>
                </a:solidFill>
                <a:latin typeface="Calibri"/>
              </a:rPr>
              <a:t>The 73 directed tidal graph edges (distance-to-shore proxy) are a novel architectural contribution — allowing the model to approximate allochthonous vs autochthonous carbon without expensive isotopic lab analysis.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77824" y="3790415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A1428"/>
                </a:solidFill>
                <a:latin typeface="Calibri"/>
              </a:rPr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71600" y="37867579"/>
            <a:ext cx="18132552" cy="421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01A28"/>
                </a:solidFill>
                <a:latin typeface="Calibri"/>
              </a:rPr>
              <a:t>SHAP + weather/news integration produces VM0033-compliant audit trails, cutting verification costs by up to 70% vs. manual field surveys ($50K+ per cycle).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77824" y="3848429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A1428"/>
                </a:solidFill>
                <a:latin typeface="Calibri"/>
              </a:rPr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371600" y="38447715"/>
            <a:ext cx="18132552" cy="421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01A28"/>
                </a:solidFill>
                <a:latin typeface="Calibri"/>
              </a:rPr>
              <a:t>Neural imputation via Sundarbans-to-UAE transfer learning solves the GEDI sparse coverage problem (~4%/month) for arid-coast mangroves — a first in the literature.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77824" y="39302171"/>
            <a:ext cx="18626327" cy="0"/>
          </a:xfrm>
          <a:prstGeom prst="roundRect">
            <a:avLst>
              <a:gd name="adj" fmla="val 4500"/>
            </a:avLst>
          </a:prstGeom>
          <a:solidFill>
            <a:srgbClr val="12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152144" y="39448475"/>
            <a:ext cx="180776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CCE8"/>
                </a:solidFill>
                <a:latin typeface="Calibri"/>
              </a:rPr>
              <a:t>FUTURE WORK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52144" y="39795947"/>
            <a:ext cx="18077687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→  Integrate Sentinel-3 ocean colour for allochthonous carbon validation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→  Extend pipeline to seagrass and saltmarsh (full VM0033 scope)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→  Deploy edge inference for a real-time field ranger mobile app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0455128" y="34875216"/>
            <a:ext cx="19174968" cy="1097280"/>
          </a:xfrm>
          <a:prstGeom prst="roundRect">
            <a:avLst>
              <a:gd name="adj" fmla="val 45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0455128" y="34875216"/>
            <a:ext cx="201168" cy="1097280"/>
          </a:xfrm>
          <a:prstGeom prst="rect">
            <a:avLst/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20820888" y="351129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0C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A1428"/>
                </a:solidFill>
                <a:latin typeface="Calibr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1680424" y="34875216"/>
            <a:ext cx="1776679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0729448" y="36319968"/>
            <a:ext cx="15883127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[1] Dubayah, R. et al. (2020). GEDI: High-resolution laser ranging. Science of Remote Sensing, 1, 100002.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[2] Kipf, T.N. &amp; Welling, M. (2017). Semi-supervised classification with graph convolutional networks. ICLR.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[3] Yu, B., Yin, H. &amp; Zhu, Z. (2018). Spatio-temporal graph convolutional networks. IJCAI, pp. 3634–3640.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[4] Lundberg, S.M. &amp; Lee, S.I. (2017). A unified approach to interpreting model predictions. NeurIPS, pp. 4765–4774.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[5] Verra (2022). VM0033 Methodology for Tidal Wetland and Seagrass Restoration, v2.1. Washington DC.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[6] Hamilton, S.E. &amp; Friess, D.A. (2018). Global carbon stocks due to mangrove deforestation. Nature Climate Change, 8(3).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[7] Hevner, A.R. et al. (2004). Design science in information systems research. MIS Quarterly, 28(1), 75–105.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01A28"/>
                </a:solidFill>
                <a:latin typeface="Calibri"/>
              </a:rPr>
              <a:t>[8] Macreadie, P.I. et al. (2021). The future of blue carbon science. Nature Reviews Earth &amp; Environment, 2(12).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6978336" y="36155376"/>
            <a:ext cx="2377440" cy="2377440"/>
          </a:xfrm>
          <a:prstGeom prst="roundRect">
            <a:avLst>
              <a:gd name="adj" fmla="val 4500"/>
            </a:avLst>
          </a:prstGeom>
          <a:solidFill>
            <a:srgbClr val="12283E"/>
          </a:solidFill>
          <a:ln w="25400">
            <a:solidFill>
              <a:srgbClr val="00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7106352" y="36283392"/>
            <a:ext cx="2121408" cy="2121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CCE8"/>
                </a:solidFill>
                <a:latin typeface="Calibri"/>
              </a:rPr>
              <a:t>QR Code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GitHub Repository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45260"/>
                </a:solidFill>
                <a:latin typeface="Calibri"/>
              </a:rPr>
              <a:t>(link TBD)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246816" y="3862425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45260"/>
                </a:solidFill>
                <a:latin typeface="Calibri"/>
              </a:rPr>
              <a:t>Scan to view code &amp; data pipeline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0" y="39273480"/>
            <a:ext cx="40233600" cy="960119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457200" y="394426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A1428"/>
                </a:solidFill>
                <a:latin typeface="Calibri"/>
              </a:rPr>
              <a:t>MDX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80160" y="3940606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MSc Data Science &amp; AI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0CCE8"/>
                </a:solidFill>
                <a:latin typeface="Calibri"/>
              </a:rPr>
              <a:t>Middlesex University Dubai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344400" y="39273480"/>
            <a:ext cx="15544800" cy="9601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✉  NG661@live.mdx.ac.uk      🌐  www.mdx.ac.uk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7889200" y="39273480"/>
            <a:ext cx="11887200" cy="9601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📍  Dubai Knowledge Park, UAE      📅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1499</Words>
  <Application>Microsoft Office PowerPoint</Application>
  <PresentationFormat>Custom</PresentationFormat>
  <Paragraphs>227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Gandikota Narendra</dc:creator>
  <cp:keywords/>
  <dc:description>generated using python-pptx</dc:description>
  <cp:lastModifiedBy>Gandikota Narendra</cp:lastModifiedBy>
  <cp:revision>2</cp:revision>
  <dcterms:created xsi:type="dcterms:W3CDTF">2013-01-27T09:14:16Z</dcterms:created>
  <dcterms:modified xsi:type="dcterms:W3CDTF">2026-09-13T22:52:09Z</dcterms:modified>
  <cp:category/>
</cp:coreProperties>
</file>