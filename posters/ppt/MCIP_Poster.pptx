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0233600" cy="40233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233600" cy="40233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0" cy="48006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146000" y="0"/>
            <a:ext cx="15087600" cy="4800600"/>
          </a:xfrm>
          <a:prstGeom prst="rect">
            <a:avLst/>
          </a:prstGeom>
          <a:solidFill>
            <a:srgbClr val="0B1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654296"/>
            <a:ext cx="40233600" cy="146304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320040" cy="4654296"/>
          </a:xfrm>
          <a:prstGeom prst="rect">
            <a:avLst/>
          </a:prstGeom>
          <a:solidFill>
            <a:srgbClr val="00D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8529280" y="1005840"/>
            <a:ext cx="109728" cy="109728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718000" y="640080"/>
            <a:ext cx="109728" cy="109728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0906719" y="1371600"/>
            <a:ext cx="109728" cy="109728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0358080" y="2194560"/>
            <a:ext cx="109728" cy="109728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638240" y="2834640"/>
            <a:ext cx="109728" cy="109728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9077920" y="3383280"/>
            <a:ext cx="109728" cy="109728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92608"/>
            <a:ext cx="2606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750" b="1" i="0">
                <a:solidFill>
                  <a:srgbClr val="00B4D8"/>
                </a:solidFill>
                <a:latin typeface="Calibri"/>
              </a:rPr>
              <a:t>MIDDLESEX UNIVERSITY DUBAI  •  FACULTY OF SCIENCE &amp; TECHNOLOGY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94944"/>
            <a:ext cx="274320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200"/>
              </a:spcAft>
            </a:pPr>
            <a:r>
              <a:rPr sz="4700" b="1" i="0">
                <a:solidFill>
                  <a:srgbClr val="FFFFFF"/>
                </a:solidFill>
                <a:latin typeface="Calibri"/>
              </a:rPr>
              <a:t>Mangrove Carbon Intelligence Platform (MCIP)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50592"/>
            <a:ext cx="26974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00D284"/>
                </a:solidFill>
                <a:latin typeface="Calibri"/>
              </a:rPr>
              <a:t>Spatio-Temporal Graph Neural Networks for Automated Blue Carbon MRV in UAE Mangrove Ecosystems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337560"/>
            <a:ext cx="269748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Narendra Gandikota</a:t>
            </a:r>
            <a:r>
              <a:rPr sz="1500" b="0" i="0">
                <a:solidFill>
                  <a:srgbClr val="94A3B8"/>
                </a:solidFill>
                <a:latin typeface="Calibri"/>
              </a:rPr>
              <a:t>  |  NG661@live.mdx.ac.uk  |  MSc Data Science &amp; AI CST4090 Thesis  |  Supervisor: </a:t>
            </a:r>
            <a:r>
              <a:rPr sz="1550" b="1" i="0">
                <a:solidFill>
                  <a:srgbClr val="FFFFFF"/>
                </a:solidFill>
                <a:latin typeface="Calibri"/>
              </a:rPr>
              <a:t>Dr. Krishnadas Nanath</a:t>
            </a:r>
            <a:r>
              <a:rPr sz="1500" b="0" i="0">
                <a:solidFill>
                  <a:srgbClr val="94A3B8"/>
                </a:solidFill>
                <a:latin typeface="Calibri"/>
              </a:rPr>
              <a:t>  |  October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13632"/>
            <a:ext cx="269748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00B4D8"/>
                </a:solidFill>
                <a:latin typeface="Calibri"/>
              </a:rPr>
              <a:t>Regulatory Framework: </a:t>
            </a:r>
            <a:r>
              <a:rPr sz="1350" b="0" i="0">
                <a:solidFill>
                  <a:srgbClr val="FFFFFF"/>
                </a:solidFill>
                <a:latin typeface="Calibri"/>
              </a:rPr>
              <a:t>Verra VM0033 Methodology  •  IPCC Tier-2 Blue Carbon Accounting  •  UAE Federal Decree-Law No. 45/2021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163520" y="594360"/>
            <a:ext cx="3840480" cy="3611880"/>
          </a:xfrm>
          <a:prstGeom prst="roundRect">
            <a:avLst>
              <a:gd name="adj" fmla="val 8000"/>
            </a:avLst>
          </a:prstGeom>
          <a:solidFill>
            <a:srgbClr val="0B1E38"/>
          </a:solidFill>
          <a:ln w="19050">
            <a:solidFill>
              <a:srgbClr val="00D2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77920" y="868680"/>
            <a:ext cx="2011680" cy="20116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8163520" y="3017520"/>
            <a:ext cx="3840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0D284"/>
                </a:solidFill>
                <a:latin typeface="Calibri"/>
              </a:rPr>
              <a:t>COASTAL SENTINEL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63520" y="3429000"/>
            <a:ext cx="3840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Production Cloud Platform
me-central1 Sovereign Region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369760" y="594360"/>
            <a:ext cx="694944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369760" y="594360"/>
            <a:ext cx="6949440" cy="201168"/>
          </a:xfrm>
          <a:prstGeom prst="rect">
            <a:avLst/>
          </a:prstGeom>
          <a:solidFill>
            <a:srgbClr val="D21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dx 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0" y="978408"/>
            <a:ext cx="5852160" cy="26974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2369760" y="3721608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71224"/>
                </a:solidFill>
                <a:latin typeface="Calibri"/>
              </a:rPr>
              <a:t>DUBAI CAMPUS  •  UNITED ARAB EMIRATES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166360"/>
            <a:ext cx="12874752" cy="301294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3679424" y="5166360"/>
            <a:ext cx="12874752" cy="301294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6901648" y="5166360"/>
            <a:ext cx="12874752" cy="301294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6928" y="5349240"/>
            <a:ext cx="12655296" cy="960120"/>
          </a:xfrm>
          <a:prstGeom prst="roundRect">
            <a:avLst>
              <a:gd name="adj" fmla="val 8000"/>
            </a:avLst>
          </a:prstGeom>
          <a:solidFill>
            <a:srgbClr val="3E1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5349240"/>
            <a:ext cx="201168" cy="96012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86968" y="5518404"/>
            <a:ext cx="621792" cy="621792"/>
          </a:xfrm>
          <a:prstGeom prst="roundRect">
            <a:avLst>
              <a:gd name="adj" fmla="val 50000"/>
            </a:avLst>
          </a:prstGeom>
          <a:solidFill>
            <a:srgbClr val="00D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71224"/>
                </a:solidFill>
                <a:latin typeface="Calibri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64792" y="5349240"/>
            <a:ext cx="1127455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NARRATIVE, PROBLEM &amp; GOAL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6384" y="6629400"/>
            <a:ext cx="109728" cy="29260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6583680"/>
            <a:ext cx="1201521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3E127A"/>
                </a:solidFill>
                <a:latin typeface="Calibri"/>
              </a:rPr>
              <a:t>THE BLUE CARBON MRV BOTTLENECK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7004304"/>
            <a:ext cx="1221638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0F172A"/>
                </a:solidFill>
                <a:latin typeface="Calibri"/>
              </a:rPr>
              <a:t>The UAE is home to over 40,000 hectares of coastal mangroves, sequestering up to 6 tCO2e/ha/year in aboveground biomass and sediment. Despite vital ecological value for UAE Net Zero 2050, no automated Measurement, Reporting and Verification (MRV) framework exists. Manual field allometry costs $50,000+ per verification cycle and incurs 3 to 6 months latency, leaving UAE mangrove assets commercially invisible on the $2B Voluntary Carbon Market (VCM).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6384" y="8604504"/>
            <a:ext cx="3950207" cy="1874519"/>
          </a:xfrm>
          <a:prstGeom prst="roundRect">
            <a:avLst>
              <a:gd name="adj" fmla="val 8000"/>
            </a:avLst>
          </a:prstGeom>
          <a:solidFill>
            <a:srgbClr val="0B1E38"/>
          </a:solidFill>
          <a:ln w="12700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" y="8695944"/>
            <a:ext cx="3767327" cy="1049731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0D284"/>
                </a:solidFill>
                <a:latin typeface="Calibri"/>
              </a:rPr>
              <a:t>40K+ ha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" y="9691725"/>
            <a:ext cx="3767327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UAE Mangrove
Cover Monitored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19472" y="8604504"/>
            <a:ext cx="3950207" cy="1874519"/>
          </a:xfrm>
          <a:prstGeom prst="roundRect">
            <a:avLst>
              <a:gd name="adj" fmla="val 8000"/>
            </a:avLst>
          </a:prstGeom>
          <a:solidFill>
            <a:srgbClr val="0B1E38"/>
          </a:solidFill>
          <a:ln w="12700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0912" y="8695944"/>
            <a:ext cx="3767327" cy="1049731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0D284"/>
                </a:solidFill>
                <a:latin typeface="Calibri"/>
              </a:rPr>
              <a:t>$2B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0912" y="9691725"/>
            <a:ext cx="3767327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Voluntary Carbon
Market Disconnect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2559" y="8604504"/>
            <a:ext cx="3950207" cy="1874519"/>
          </a:xfrm>
          <a:prstGeom prst="roundRect">
            <a:avLst>
              <a:gd name="adj" fmla="val 8000"/>
            </a:avLst>
          </a:prstGeom>
          <a:solidFill>
            <a:srgbClr val="0B1E38"/>
          </a:solidFill>
          <a:ln w="12700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3999" y="8695944"/>
            <a:ext cx="3767327" cy="1049731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0D284"/>
                </a:solidFill>
                <a:latin typeface="Calibri"/>
              </a:rPr>
              <a:t>70%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3999" y="9691725"/>
            <a:ext cx="3767327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MRV Cost
Reduction Target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6384" y="10799064"/>
            <a:ext cx="109728" cy="29260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10753344"/>
            <a:ext cx="1201521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3E127A"/>
                </a:solidFill>
                <a:latin typeface="Calibri"/>
              </a:rPr>
              <a:t>CENTRAL RESEARCH QUESTION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6384" y="11173968"/>
            <a:ext cx="12216384" cy="1691640"/>
          </a:xfrm>
          <a:prstGeom prst="roundRect">
            <a:avLst>
              <a:gd name="adj" fmla="val 8000"/>
            </a:avLst>
          </a:prstGeom>
          <a:solidFill>
            <a:srgbClr val="0B1E38"/>
          </a:solidFill>
          <a:ln w="15240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4983" y="11301984"/>
            <a:ext cx="11759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CST4090 PRIMARY RESEARCH INQUIRY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4983" y="11576304"/>
            <a:ext cx="117591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 i="1">
                <a:solidFill>
                  <a:srgbClr val="FFFFFF"/>
                </a:solidFill>
                <a:latin typeface="Calibri"/>
              </a:rPr>
              <a:t>"Can a Spatio-Temporal Graph Neural Network (ST-GNN) trained on multi-source satellite data and hydrodynamic tidal connectivity provide significantly more accurate, robust, and explainable monthly carbon sequestration estimates and 12-month forecasts than non-spatial or non-temporal baseline models?"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86384" y="13185648"/>
            <a:ext cx="109728" cy="29260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7552" y="13139928"/>
            <a:ext cx="1201521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3E127A"/>
                </a:solidFill>
                <a:latin typeface="Calibri"/>
              </a:rPr>
              <a:t>GEOSPATIAL SATELLITE CLASSIFICATION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6384" y="13560552"/>
            <a:ext cx="12216384" cy="6035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Stage_1_Mangrove_Pixels_Predic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6736" y="13725144"/>
            <a:ext cx="11155680" cy="466344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969264" y="18452592"/>
            <a:ext cx="1185062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E127A"/>
                </a:solidFill>
                <a:latin typeface="Calibri"/>
              </a:rPr>
              <a:t>Figure 1: </a:t>
            </a:r>
            <a:r>
              <a:rPr sz="1200" b="0" i="0">
                <a:solidFill>
                  <a:srgbClr val="475569"/>
                </a:solidFill>
                <a:latin typeface="Calibri"/>
              </a:rPr>
              <a:t>Geospatial ANN pixel classification across UAE coastline (Abu Dhabi, Dubai, Umm Al Quwain). Identifies 3,230 validated coordinate points harmonizing Sentinel-2 10m bands &amp; Sentinel-1 SAR.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6384" y="19915632"/>
            <a:ext cx="109728" cy="29260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87552" y="19869912"/>
            <a:ext cx="1201521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3E127A"/>
                </a:solidFill>
                <a:latin typeface="Calibri"/>
              </a:rPr>
              <a:t>CORE RESEARCH OBJECTIVES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" y="20290536"/>
            <a:ext cx="120335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0" i="0">
                <a:solidFill>
                  <a:srgbClr val="0F172A"/>
                </a:solidFill>
                <a:latin typeface="Calibri"/>
              </a:rPr>
              <a:t>1. Multi-Sensor Data Fusion: Harmonize ESA Sentinel-1 SAR, Sentinel-2 Optical, and NASA GEDI LiDAR.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7824" y="20692872"/>
            <a:ext cx="120335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0" i="0">
                <a:solidFill>
                  <a:srgbClr val="0F172A"/>
                </a:solidFill>
                <a:latin typeface="Calibri"/>
              </a:rPr>
              <a:t>2. Neural LiDAR Imputation: Solve GEDI 4%/mo sparsity via Sundarbans-to-UAE transfer learning.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7824" y="21095208"/>
            <a:ext cx="120335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0" i="0">
                <a:solidFill>
                  <a:srgbClr val="0F172A"/>
                </a:solidFill>
                <a:latin typeface="Calibri"/>
              </a:rPr>
              <a:t>3. Hydrodynamic Graph Topology: Construct 25 DBSCAN patch nodes with 73 directional tidal edges.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7824" y="21497544"/>
            <a:ext cx="120335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0" i="0">
                <a:solidFill>
                  <a:srgbClr val="0F172A"/>
                </a:solidFill>
                <a:latin typeface="Calibri"/>
              </a:rPr>
              <a:t>4. Spatio-Temporal Modeling: Train ST-GNN over 69 continuous months (2021-2026); benchmark vs 4 baselines.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" y="21899880"/>
            <a:ext cx="120335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0" i="0">
                <a:solidFill>
                  <a:srgbClr val="0F172A"/>
                </a:solidFill>
                <a:latin typeface="Calibri"/>
              </a:rPr>
              <a:t>5. Causal Explainability: Formulate SHAP feature attribution satisfying Verra VM0033 additionality audits.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7824" y="22302216"/>
            <a:ext cx="120335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80" b="0" i="0">
                <a:solidFill>
                  <a:srgbClr val="0F172A"/>
                </a:solidFill>
                <a:latin typeface="Calibri"/>
              </a:rPr>
              <a:t>6. Cloud Platform Deployment: Engineer Coastal Sentinel with real-time GIS map, alerts, and PDF dossiers.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6384" y="22951440"/>
            <a:ext cx="109728" cy="29260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87552" y="22905720"/>
            <a:ext cx="1201521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3E127A"/>
                </a:solidFill>
                <a:latin typeface="Calibri"/>
              </a:rPr>
              <a:t>MULTI-SOURCE SATELLITE REPOSITORY (69 MONTHS)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786384" y="23326344"/>
          <a:ext cx="12216382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9242"/>
                <a:gridCol w="4642225"/>
                <a:gridCol w="3664915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Sensor / Platform</a:t>
                      </a:r>
                    </a:p>
                  </a:txBody>
                  <a:tcPr marL="73152" marR="73152" marT="36576" marB="36576" anchor="ctr">
                    <a:solidFill>
                      <a:srgbClr val="0B1A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Modalities / Bands</a:t>
                      </a:r>
                    </a:p>
                  </a:txBody>
                  <a:tcPr marL="73152" marR="73152" marT="36576" marB="36576" anchor="ctr">
                    <a:solidFill>
                      <a:srgbClr val="0B1A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Spatial / Temporal</a:t>
                      </a:r>
                    </a:p>
                  </a:txBody>
                  <a:tcPr marL="73152" marR="73152" marT="36576" marB="36576" anchor="ctr">
                    <a:solidFill>
                      <a:srgbClr val="0B1A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20" b="0">
                          <a:solidFill>
                            <a:srgbClr val="0F172A"/>
                          </a:solidFill>
                          <a:latin typeface="Calibri"/>
                        </a:rPr>
                        <a:t>ESA Sentinel-2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20" b="0">
                          <a:solidFill>
                            <a:srgbClr val="0F172A"/>
                          </a:solidFill>
                          <a:latin typeface="Calibri"/>
                        </a:rPr>
                        <a:t>B2-B8, B11, B12, NDVI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20" b="0">
                          <a:solidFill>
                            <a:srgbClr val="0F172A"/>
                          </a:solidFill>
                          <a:latin typeface="Calibri"/>
                        </a:rPr>
                        <a:t>10m / 5-day cycle (2021-2026)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20" b="0">
                          <a:solidFill>
                            <a:srgbClr val="0F172A"/>
                          </a:solidFill>
                          <a:latin typeface="Calibri"/>
                        </a:rPr>
                        <a:t>ESA Sentinel-1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20" b="0">
                          <a:solidFill>
                            <a:srgbClr val="0F172A"/>
                          </a:solidFill>
                          <a:latin typeface="Calibri"/>
                        </a:rPr>
                        <a:t>C-band SAR (VV, VH, Ratio)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20" b="0">
                          <a:solidFill>
                            <a:srgbClr val="0F172A"/>
                          </a:solidFill>
                          <a:latin typeface="Calibri"/>
                        </a:rPr>
                        <a:t>10m / All-weather radar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20" b="0">
                          <a:solidFill>
                            <a:srgbClr val="0F172A"/>
                          </a:solidFill>
                          <a:latin typeface="Calibri"/>
                        </a:rPr>
                        <a:t>NASA GEDI L2A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20" b="0">
                          <a:solidFill>
                            <a:srgbClr val="0F172A"/>
                          </a:solidFill>
                          <a:latin typeface="Calibri"/>
                        </a:rPr>
                        <a:t>LiDAR RH100, PAI, Canopy 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20" b="0">
                          <a:solidFill>
                            <a:srgbClr val="0F172A"/>
                          </a:solidFill>
                          <a:latin typeface="Calibri"/>
                        </a:rPr>
                        <a:t>25m footprint (Sparse ~4%/mo)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20" b="0">
                          <a:solidFill>
                            <a:srgbClr val="0F172A"/>
                          </a:solidFill>
                          <a:latin typeface="Calibri"/>
                        </a:rPr>
                        <a:t>OpenWeatherMap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20" b="0">
                          <a:solidFill>
                            <a:srgbClr val="0F172A"/>
                          </a:solidFill>
                          <a:latin typeface="Calibri"/>
                        </a:rPr>
                        <a:t>Temp, Wind, Sea Pressure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20" b="0">
                          <a:solidFill>
                            <a:srgbClr val="0F172A"/>
                          </a:solidFill>
                          <a:latin typeface="Calibri"/>
                        </a:rPr>
                        <a:t>Continuous hourly reanalysis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20" b="0">
                          <a:solidFill>
                            <a:srgbClr val="0F172A"/>
                          </a:solidFill>
                          <a:latin typeface="Calibri"/>
                        </a:rPr>
                        <a:t>Ground Truth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20" b="0">
                          <a:solidFill>
                            <a:srgbClr val="0F172A"/>
                          </a:solidFill>
                          <a:latin typeface="Calibri"/>
                        </a:rPr>
                        <a:t>3,230 Validated Coordinates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20" b="0">
                          <a:solidFill>
                            <a:srgbClr val="0F172A"/>
                          </a:solidFill>
                          <a:latin typeface="Calibri"/>
                        </a:rPr>
                        <a:t>UAE Ministry &amp; EAD verified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Rounded Rectangle 65"/>
          <p:cNvSpPr/>
          <p:nvPr/>
        </p:nvSpPr>
        <p:spPr>
          <a:xfrm>
            <a:off x="786384" y="26380440"/>
            <a:ext cx="1221638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50976" y="26490168"/>
            <a:ext cx="1188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3E127A"/>
                </a:solidFill>
                <a:latin typeface="Calibri"/>
              </a:rPr>
              <a:t>REGULATORY ALIGNMENT &amp; UAE NET ZERO 2050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50976" y="26782776"/>
            <a:ext cx="118872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F172A"/>
                </a:solidFill>
                <a:latin typeface="Calibri"/>
              </a:rPr>
              <a:t>• National Strategy: Directly supports UAE Net Zero 2050 and 100 Million Mangroves Target.
• EAD Integration: Aligned with Environment Agency Abu Dhabi coastal ecosystem thresholds.
• Sovereign Data: Hosted on Google Cloud me-central1 adhering to UAE Data Decree-Law 45/2021.
• Continuous Monitoring: 69 continuous monthly time-series snapshots (Jan 2021 – Sep 2026).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3789152" y="5349240"/>
            <a:ext cx="12655296" cy="960120"/>
          </a:xfrm>
          <a:prstGeom prst="roundRect">
            <a:avLst>
              <a:gd name="adj" fmla="val 8000"/>
            </a:avLst>
          </a:prstGeom>
          <a:solidFill>
            <a:srgbClr val="3E1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3789152" y="5349240"/>
            <a:ext cx="201168" cy="96012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14109192" y="5518404"/>
            <a:ext cx="621792" cy="621792"/>
          </a:xfrm>
          <a:prstGeom prst="roundRect">
            <a:avLst>
              <a:gd name="adj" fmla="val 50000"/>
            </a:avLst>
          </a:prstGeom>
          <a:solidFill>
            <a:srgbClr val="00D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71224"/>
                </a:solidFill>
                <a:latin typeface="Calibri"/>
              </a:rPr>
              <a:t>02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4987016" y="5349240"/>
            <a:ext cx="1127455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RESEARCH METHODOLOGY &amp; ST-GNN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008608" y="6629400"/>
            <a:ext cx="109728" cy="29260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4209776" y="6583680"/>
            <a:ext cx="1201521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3E127A"/>
                </a:solidFill>
                <a:latin typeface="Calibri"/>
              </a:rPr>
              <a:t>END-TO-END METHODOLOGY PIPELINE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4008608" y="7004304"/>
            <a:ext cx="12216384" cy="228600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 w="12700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4191488" y="711403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0D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71224"/>
                </a:solidFill>
              </a:rPr>
              <a:t>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4648688" y="7095744"/>
            <a:ext cx="1143914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PHASE 1: INGESTION: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GEE automated ingestion of Sentinel-1/2 &amp; GEDI tracks (69 continuous months).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4191488" y="7644383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0D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71224"/>
                </a:solidFill>
              </a:rP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648688" y="7626096"/>
            <a:ext cx="1143914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PHASE 2: IMPUTATION: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Transfer learning from Sundarbans to UAE arid mangroves solving LiDAR sparsity.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4191488" y="817473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0D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71224"/>
                </a:solidFill>
              </a:rP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648688" y="8156448"/>
            <a:ext cx="1143914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PHASE 3: GRAPH TOPOLOGY: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DBSCAN clustering yields 25 patch nodes, 73 tidal flow edges, and 7 spatial edges.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4191488" y="870508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0D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71224"/>
                </a:solidFill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648688" y="8686800"/>
            <a:ext cx="1143914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PHASE 4: ST-GNN &amp; MRV: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Spatial GCN + Temporal LSTM forecasting 12 months ahead with SHAP audit trails.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4008608" y="9610344"/>
            <a:ext cx="109728" cy="29260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4209776" y="9564624"/>
            <a:ext cx="1201521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3E127A"/>
                </a:solidFill>
                <a:latin typeface="Calibri"/>
              </a:rPr>
              <a:t>ST-GNN HYDRODYNAMIC GRAPH TOPOLOGY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4008608" y="9985248"/>
            <a:ext cx="12216384" cy="6812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Stage_3_NetworkX_Graph_of_Sedimental_and_Tidal Connectiv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0" y="10131552"/>
            <a:ext cx="8778240" cy="5532120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14191488" y="15745968"/>
            <a:ext cx="1185062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E127A"/>
                </a:solidFill>
                <a:latin typeface="Calibri"/>
              </a:rPr>
              <a:t>Figure 2: </a:t>
            </a:r>
            <a:r>
              <a:rPr sz="1200" b="0" i="0">
                <a:solidFill>
                  <a:srgbClr val="475569"/>
                </a:solidFill>
                <a:latin typeface="Calibri"/>
              </a:rPr>
              <a:t>NetworkX graph of UAE mangrove patches. 25 DBSCAN nodes connected by 73 directional tidal flow edges (capturing allochthonous sediment flux) and 7 spatial Euclidean distance edges.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4008608" y="17099280"/>
            <a:ext cx="109728" cy="29260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4209776" y="17053560"/>
            <a:ext cx="1201521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3E127A"/>
                </a:solidFill>
                <a:latin typeface="Calibri"/>
              </a:rPr>
              <a:t>NASA GEDI LiDAR NEURAL IMPUTATION ENGINE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4008608" y="17474184"/>
            <a:ext cx="12216384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4173200" y="17583912"/>
            <a:ext cx="1188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3E127A"/>
                </a:solidFill>
                <a:latin typeface="Calibri"/>
              </a:rPr>
              <a:t>SOLVING ARID-COAST LiDAR SPARSITY VIA TRANSFER LEARNING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4173200" y="17858232"/>
            <a:ext cx="1188720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F172A"/>
                </a:solidFill>
                <a:latin typeface="Calibri"/>
              </a:rPr>
              <a:t>• Sparsity Challenge: NASA GEDI L2A LiDAR provides orbital spot tracks covering only ~4% of UAE patches/mo.
• Transfer Solution: Deep Neural Regressor trained on dense Sundarbans benchmark and fine-tuned for UAE.
• Performance: Reconstructs continuous RH100 canopy height &amp; PAI profiles with R² = 0.812 on validation tracks.
• Literature First: First operational framework bridging optical-SAR-LiDAR for Arabian Gulf mangrove stands.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4008608" y="19668744"/>
            <a:ext cx="109728" cy="29260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4209776" y="19623024"/>
            <a:ext cx="1201521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3E127A"/>
                </a:solidFill>
                <a:latin typeface="Calibri"/>
              </a:rPr>
              <a:t>MATHEMATICAL ACCOUNTING FORMULATIONS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4008608" y="20043648"/>
            <a:ext cx="5993892" cy="2286000"/>
          </a:xfrm>
          <a:prstGeom prst="roundRect">
            <a:avLst>
              <a:gd name="adj" fmla="val 8000"/>
            </a:avLst>
          </a:prstGeom>
          <a:solidFill>
            <a:srgbClr val="0B1E38"/>
          </a:solidFill>
          <a:ln w="12700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4145768" y="20135088"/>
            <a:ext cx="57195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0B4D8"/>
                </a:solidFill>
                <a:latin typeface="Calibri"/>
              </a:rPr>
              <a:t>MANGROVE HEALTH SCORE (MHS)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4145768" y="20409408"/>
            <a:ext cx="571957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D284"/>
                </a:solidFill>
                <a:latin typeface="Consolas"/>
              </a:rPr>
              <a:t>MHS = (NDVI x 40) + ((RH100/10) x 30) + ((Abs/15) x 30)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4145768" y="20939760"/>
            <a:ext cx="571957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20" b="0" i="0">
                <a:solidFill>
                  <a:srgbClr val="FFFFFF"/>
                </a:solidFill>
                <a:latin typeface="Calibri"/>
              </a:rPr>
              <a:t>• NDVI (40%): Photosynthetic canopy vigor
• RH100 (30%): LiDAR 100th percentile canopy height
• Absorption (30%): Monthly carbon uptake rate
• Range: 0 (Dead/Degraded) to 100 (Peak Vitality)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0231100" y="20043648"/>
            <a:ext cx="5993892" cy="2286000"/>
          </a:xfrm>
          <a:prstGeom prst="roundRect">
            <a:avLst>
              <a:gd name="adj" fmla="val 8000"/>
            </a:avLst>
          </a:prstGeom>
          <a:solidFill>
            <a:srgbClr val="0B1E38"/>
          </a:solidFill>
          <a:ln w="12700">
            <a:solidFill>
              <a:srgbClr val="00D2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0368260" y="20135088"/>
            <a:ext cx="57195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0D284"/>
                </a:solidFill>
                <a:latin typeface="Calibri"/>
              </a:rPr>
              <a:t>IPCC TIER-2 CARBON ACCOUNTING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0368260" y="20409408"/>
            <a:ext cx="571957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</a:rPr>
              <a:t>C_Stock (MgC/ha) = Biomass x 0.47
CO2e (tCO2e/ha) = C_Stock x (44/12)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0368260" y="20958048"/>
            <a:ext cx="571957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20" b="0" i="0">
                <a:solidFill>
                  <a:srgbClr val="FFFFFF"/>
                </a:solidFill>
                <a:latin typeface="Calibri"/>
              </a:rPr>
              <a:t>• Biomass: Derived from GEDI LiDAR RH100 + PAI
• Allometry: Arid Avicenna marina coefficient
• Conversion: 0.47 IPCC carbon fraction
• CO2 Equivalence: Molecular weight ratio (44/12)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4008608" y="22649688"/>
            <a:ext cx="109728" cy="29260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4209776" y="22603968"/>
            <a:ext cx="1201521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3E127A"/>
                </a:solidFill>
                <a:latin typeface="Calibri"/>
              </a:rPr>
              <a:t>ST-GNN TENSOR &amp; SPATIO-TEMPORAL OPERATOR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4100048" y="23024592"/>
            <a:ext cx="12033504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Input Tensor: X in R^(N x T x F) where N = 25 patch nodes, T = 3 lookback months, F = 9 features.
• Spatial Operator: Graph Convolution A_hat = D_tilde^(-1/2) * A_tilde * D_tilde^(-1/2) with self-loops.
• Temporal Operator: Multi-layer LSTM capturing sequential phenological and tidal inundation dynamics.
• 12-Month Forecast Horizon: Auto-regressive multi-step prediction with empirical confidence bands.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4008608" y="24624792"/>
            <a:ext cx="109728" cy="29260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4209776" y="24579072"/>
            <a:ext cx="1201521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3E127A"/>
                </a:solidFill>
                <a:latin typeface="Calibri"/>
              </a:rPr>
              <a:t>EXPERIMENTAL SPLIT &amp; ARCHITECTURE ABLATION</a:t>
            </a:r>
          </a:p>
        </p:txBody>
      </p:sp>
      <p:graphicFrame>
        <p:nvGraphicFramePr>
          <p:cNvPr id="109" name="Table 108"/>
          <p:cNvGraphicFramePr>
            <a:graphicFrameLocks noGrp="1"/>
          </p:cNvGraphicFramePr>
          <p:nvPr/>
        </p:nvGraphicFramePr>
        <p:xfrm>
          <a:off x="14008608" y="24999696"/>
          <a:ext cx="12216383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4915"/>
                <a:gridCol w="4153570"/>
                <a:gridCol w="2198949"/>
                <a:gridCol w="2198949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Dataset Partition</a:t>
                      </a:r>
                    </a:p>
                  </a:txBody>
                  <a:tcPr marL="73152" marR="73152" marT="36576" marB="36576" anchor="ctr">
                    <a:solidFill>
                      <a:srgbClr val="0B1A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Calendar Span</a:t>
                      </a:r>
                    </a:p>
                  </a:txBody>
                  <a:tcPr marL="73152" marR="73152" marT="36576" marB="36576" anchor="ctr">
                    <a:solidFill>
                      <a:srgbClr val="0B1A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Snapshots</a:t>
                      </a:r>
                    </a:p>
                  </a:txBody>
                  <a:tcPr marL="73152" marR="73152" marT="36576" marB="36576" anchor="ctr">
                    <a:solidFill>
                      <a:srgbClr val="0B1A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3152" marR="73152" marT="36576" marB="36576" anchor="ctr">
                    <a:solidFill>
                      <a:srgbClr val="0B1A3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Training Set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Jan 2021 – Dec 2024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48 Months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Weight optimization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Validation Set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Jan 2025 – Jun 2025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6 Months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Hyperparameter tuning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Test Set (Held-out)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Jul 2025 – Sep 2026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15 Months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Unseen evaluation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0" name="Table 109"/>
          <p:cNvGraphicFramePr>
            <a:graphicFrameLocks noGrp="1"/>
          </p:cNvGraphicFramePr>
          <p:nvPr/>
        </p:nvGraphicFramePr>
        <p:xfrm>
          <a:off x="14008608" y="26965656"/>
          <a:ext cx="12216381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0587"/>
                <a:gridCol w="1710293"/>
                <a:gridCol w="1710293"/>
                <a:gridCol w="5375208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Candidate Model</a:t>
                      </a:r>
                    </a:p>
                  </a:txBody>
                  <a:tcPr marL="73152" marR="73152" marT="36576" marB="36576" anchor="ctr">
                    <a:solidFill>
                      <a:srgbClr val="0B1A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Spatial</a:t>
                      </a:r>
                    </a:p>
                  </a:txBody>
                  <a:tcPr marL="73152" marR="73152" marT="36576" marB="36576" anchor="ctr">
                    <a:solidFill>
                      <a:srgbClr val="0B1A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Temporal</a:t>
                      </a:r>
                    </a:p>
                  </a:txBody>
                  <a:tcPr marL="73152" marR="73152" marT="36576" marB="36576" anchor="ctr">
                    <a:solidFill>
                      <a:srgbClr val="0B1A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Key Inductive Bias</a:t>
                      </a:r>
                    </a:p>
                  </a:txBody>
                  <a:tcPr marL="73152" marR="73152" marT="36576" marB="36576" anchor="ctr">
                    <a:solidFill>
                      <a:srgbClr val="0B1A3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Tabular feature bagging baseline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Graph-RF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Static node degree &amp; centrality embeddings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Pure LSTM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Temporal sequence learning per patch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Static GCN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Spatial graph convolution without temporal memory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3E127A"/>
                          </a:solidFill>
                          <a:latin typeface="Calibri"/>
                        </a:rPr>
                        <a:t>ST-GNN (Ours)</a:t>
                      </a:r>
                    </a:p>
                  </a:txBody>
                  <a:tcPr marL="73152" marR="73152" marT="36576" marB="36576" anchor="ctr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E127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E127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E127A"/>
                          </a:solidFill>
                          <a:latin typeface="Calibri"/>
                        </a:rPr>
                        <a:t>Spatio-temporal graph message passing</a:t>
                      </a:r>
                    </a:p>
                  </a:txBody>
                  <a:tcPr marL="73152" marR="73152" marT="36576" marB="36576" anchor="ctr"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111" name="Rounded Rectangle 110"/>
          <p:cNvSpPr/>
          <p:nvPr/>
        </p:nvSpPr>
        <p:spPr>
          <a:xfrm>
            <a:off x="27011376" y="5349240"/>
            <a:ext cx="12655296" cy="960120"/>
          </a:xfrm>
          <a:prstGeom prst="roundRect">
            <a:avLst>
              <a:gd name="adj" fmla="val 8000"/>
            </a:avLst>
          </a:prstGeom>
          <a:solidFill>
            <a:srgbClr val="3E1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7011376" y="5349240"/>
            <a:ext cx="201168" cy="96012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27331416" y="5518404"/>
            <a:ext cx="621792" cy="621792"/>
          </a:xfrm>
          <a:prstGeom prst="roundRect">
            <a:avLst>
              <a:gd name="adj" fmla="val 50000"/>
            </a:avLst>
          </a:prstGeom>
          <a:solidFill>
            <a:srgbClr val="00D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71224"/>
                </a:solidFill>
                <a:latin typeface="Calibri"/>
              </a:rPr>
              <a:t>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8209240" y="5349240"/>
            <a:ext cx="11274551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RESULTS &amp; COASTAL SENTINEL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7230832" y="6629400"/>
            <a:ext cx="109728" cy="29260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7432000" y="6583680"/>
            <a:ext cx="1201521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3E127A"/>
                </a:solidFill>
                <a:latin typeface="Calibri"/>
              </a:rPr>
              <a:t>EMPIRICAL MODEL BENCHMARKING RESULTS</a:t>
            </a:r>
          </a:p>
        </p:txBody>
      </p:sp>
      <p:graphicFrame>
        <p:nvGraphicFramePr>
          <p:cNvPr id="117" name="Table 116"/>
          <p:cNvGraphicFramePr>
            <a:graphicFrameLocks noGrp="1"/>
          </p:cNvGraphicFramePr>
          <p:nvPr/>
        </p:nvGraphicFramePr>
        <p:xfrm>
          <a:off x="27230832" y="7004304"/>
          <a:ext cx="1221638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53570"/>
                <a:gridCol w="2076785"/>
                <a:gridCol w="2076785"/>
                <a:gridCol w="1954621"/>
                <a:gridCol w="1954621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Architecture</a:t>
                      </a:r>
                    </a:p>
                  </a:txBody>
                  <a:tcPr marL="73152" marR="73152" marT="36576" marB="36576" anchor="ctr">
                    <a:solidFill>
                      <a:srgbClr val="0B1A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RMSE (MgC/ha)</a:t>
                      </a:r>
                    </a:p>
                  </a:txBody>
                  <a:tcPr marL="73152" marR="73152" marT="36576" marB="36576" anchor="ctr">
                    <a:solidFill>
                      <a:srgbClr val="0B1A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MAE (MgC/ha)</a:t>
                      </a:r>
                    </a:p>
                  </a:txBody>
                  <a:tcPr marL="73152" marR="73152" marT="36576" marB="36576" anchor="ctr">
                    <a:solidFill>
                      <a:srgbClr val="0B1A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R² Score</a:t>
                      </a:r>
                    </a:p>
                  </a:txBody>
                  <a:tcPr marL="73152" marR="73152" marT="36576" marB="36576" anchor="ctr">
                    <a:solidFill>
                      <a:srgbClr val="0B1A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Nash-Sutcliffe</a:t>
                      </a:r>
                    </a:p>
                  </a:txBody>
                  <a:tcPr marL="73152" marR="73152" marT="36576" marB="36576" anchor="ctr">
                    <a:solidFill>
                      <a:srgbClr val="0B1A38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0.384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0.291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0.612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0.584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Graph Random Forest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0.292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0.224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0.721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0.702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Pure LSTM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0.241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0.183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0.789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0.763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Static GCN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0.213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0.162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0.814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0.791</a:t>
                      </a:r>
                    </a:p>
                  </a:txBody>
                  <a:tcPr marL="73152" marR="73152" marT="36576" marB="36576" anchor="ctr">
                    <a:solidFill>
                      <a:srgbClr val="F1F5F9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3E127A"/>
                          </a:solidFill>
                          <a:latin typeface="Calibri"/>
                        </a:rPr>
                        <a:t>ST-GNN (MCIP Ours)</a:t>
                      </a:r>
                    </a:p>
                  </a:txBody>
                  <a:tcPr marL="73152" marR="73152" marT="36576" marB="36576" anchor="ctr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3E127A"/>
                          </a:solidFill>
                          <a:latin typeface="Calibri"/>
                        </a:rPr>
                        <a:t>0.142</a:t>
                      </a:r>
                    </a:p>
                  </a:txBody>
                  <a:tcPr marL="73152" marR="73152" marT="36576" marB="36576" anchor="ctr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3E127A"/>
                          </a:solidFill>
                          <a:latin typeface="Calibri"/>
                        </a:rPr>
                        <a:t>0.108</a:t>
                      </a:r>
                    </a:p>
                  </a:txBody>
                  <a:tcPr marL="73152" marR="73152" marT="36576" marB="36576" anchor="ctr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3E127A"/>
                          </a:solidFill>
                          <a:latin typeface="Calibri"/>
                        </a:rPr>
                        <a:t>0.892</a:t>
                      </a:r>
                    </a:p>
                  </a:txBody>
                  <a:tcPr marL="73152" marR="73152" marT="36576" marB="36576" anchor="ctr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3E127A"/>
                          </a:solidFill>
                          <a:latin typeface="Calibri"/>
                        </a:rPr>
                        <a:t>0.854</a:t>
                      </a:r>
                    </a:p>
                  </a:txBody>
                  <a:tcPr marL="73152" marR="73152" marT="36576" marB="36576" anchor="ctr"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118" name="Rounded Rectangle 117"/>
          <p:cNvSpPr/>
          <p:nvPr/>
        </p:nvSpPr>
        <p:spPr>
          <a:xfrm>
            <a:off x="27230832" y="10250424"/>
            <a:ext cx="12216384" cy="1234440"/>
          </a:xfrm>
          <a:prstGeom prst="roundRect">
            <a:avLst>
              <a:gd name="adj" fmla="val 8000"/>
            </a:avLst>
          </a:prstGeom>
          <a:solidFill>
            <a:srgbClr val="0B1E38"/>
          </a:solidFill>
          <a:ln w="15240">
            <a:solidFill>
              <a:srgbClr val="00D2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413712" y="10341864"/>
            <a:ext cx="1185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0D284"/>
                </a:solidFill>
                <a:latin typeface="Calibri"/>
              </a:rPr>
              <a:t>KEY BENCHMARK FINDING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413712" y="10597896"/>
            <a:ext cx="118506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ST-GNN achieves 63% lower RMSE and 45.7% higher R² than Random Forest. Incorporating 73 hydrodynamic tidal edges captures non-local carbon flux across patches.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7230832" y="11804904"/>
            <a:ext cx="109728" cy="29260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7432000" y="11759184"/>
            <a:ext cx="1201521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3E127A"/>
                </a:solidFill>
                <a:latin typeface="Calibri"/>
              </a:rPr>
              <a:t>SHAP CAUSAL FEATURE ATTRIBUTION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7230832" y="12179808"/>
            <a:ext cx="122163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Sentinel-2 NDVI (Photosynthetic Vigor)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7230832" y="12454128"/>
            <a:ext cx="9656063" cy="219456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27230832" y="12454128"/>
            <a:ext cx="3669304" cy="219456"/>
          </a:xfrm>
          <a:prstGeom prst="roundRect">
            <a:avLst>
              <a:gd name="adj" fmla="val 8000"/>
            </a:avLst>
          </a:prstGeom>
          <a:solidFill>
            <a:srgbClr val="00D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7024056" y="1241755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38% Contribution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7230832" y="12783312"/>
            <a:ext cx="122163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Sentinel-1 SAR VV Backscatter (Biomass)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7230832" y="13057632"/>
            <a:ext cx="9656063" cy="219456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27230832" y="13057632"/>
            <a:ext cx="2800258" cy="219456"/>
          </a:xfrm>
          <a:prstGeom prst="roundRect">
            <a:avLst>
              <a:gd name="adj" fmla="val 8000"/>
            </a:avLst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7024056" y="1302105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29% Contribution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7230832" y="13386816"/>
            <a:ext cx="122163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NASA GEDI LiDAR RH100 (Canopy Height)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7230832" y="13661136"/>
            <a:ext cx="9656063" cy="219456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27230832" y="13661136"/>
            <a:ext cx="2027773" cy="219456"/>
          </a:xfrm>
          <a:prstGeom prst="roundRect">
            <a:avLst>
              <a:gd name="adj" fmla="val 8000"/>
            </a:avLst>
          </a:prstGeom>
          <a:solidFill>
            <a:srgbClr val="3E1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37024056" y="1362456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21% Contribution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230832" y="13990320"/>
            <a:ext cx="122163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NASA GEDI PAI (Plant Area Index)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27230832" y="14264640"/>
            <a:ext cx="9656063" cy="219456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27230832" y="14264640"/>
            <a:ext cx="772485" cy="219456"/>
          </a:xfrm>
          <a:prstGeom prst="roundRect">
            <a:avLst>
              <a:gd name="adj" fmla="val 8000"/>
            </a:avLst>
          </a:prstGeom>
          <a:solidFill>
            <a:srgbClr val="FAB0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7024056" y="142280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8% Contribution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7230832" y="14593824"/>
            <a:ext cx="122163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Hydrodynamic Tidal Connectivity (Flow Edge)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27230832" y="14868144"/>
            <a:ext cx="9656063" cy="219456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27230832" y="14868144"/>
            <a:ext cx="386242" cy="219456"/>
          </a:xfrm>
          <a:prstGeom prst="roundRect">
            <a:avLst>
              <a:gd name="adj" fmla="val 8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7024056" y="1483156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4% Contribution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7230832" y="15471648"/>
            <a:ext cx="109728" cy="29260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27432000" y="15425928"/>
            <a:ext cx="1201521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3E127A"/>
                </a:solidFill>
                <a:latin typeface="Calibri"/>
              </a:rPr>
              <a:t>COASTAL SENTINEL: PRODUCTION MRV PLATFORM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230832" y="15846552"/>
            <a:ext cx="12216384" cy="6492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6" name="Picture 145" descr="web_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761184" y="16011144"/>
            <a:ext cx="11155680" cy="5120640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27413712" y="21241512"/>
            <a:ext cx="1185062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E127A"/>
                </a:solidFill>
                <a:latin typeface="Calibri"/>
              </a:rPr>
              <a:t>Figure 3: </a:t>
            </a:r>
            <a:r>
              <a:rPr sz="1200" b="0" i="0">
                <a:solidFill>
                  <a:srgbClr val="475569"/>
                </a:solidFill>
                <a:latin typeface="Calibri"/>
              </a:rPr>
              <a:t>Coastal Sentinel Live Dashboard: Next.js 15 + Firebase platform featuring interactive GIS Leaflet map, real-time patch telemetry, 12-month ST-GNN forecasts, and XAI natural language co-pilot.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7230832" y="22658832"/>
            <a:ext cx="109728" cy="29260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432000" y="22613112"/>
            <a:ext cx="1201521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3E127A"/>
                </a:solidFill>
                <a:latin typeface="Calibri"/>
              </a:rPr>
              <a:t>AUTONOMOUS ALERTS &amp; VERRA VM0033 AUDIT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27230832" y="23033736"/>
            <a:ext cx="5993892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27367992" y="23143464"/>
            <a:ext cx="57195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E127A"/>
                </a:solidFill>
                <a:latin typeface="Calibri"/>
              </a:rPr>
              <a:t>AUTONOMOUS ALERT ENGINE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7367992" y="23436072"/>
            <a:ext cx="5719572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F172A"/>
                </a:solidFill>
                <a:latin typeface="Calibri"/>
              </a:rPr>
              <a:t>• Level 1 (5–10%): Informational monitoring anomaly.
• Level 2 (10–20%): Warning + automated SHAP causal narrative.
• Level 3 (&gt;20%): Critical stress triggering intervention.
• Proactive forward scanning via weather reanalysis.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33453324" y="23033736"/>
            <a:ext cx="5993892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3590484" y="23143464"/>
            <a:ext cx="57195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E127A"/>
                </a:solidFill>
                <a:latin typeface="Calibri"/>
              </a:rPr>
              <a:t>VERRA VM0033 COMPLIANCE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3590484" y="23436072"/>
            <a:ext cx="5719572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F172A"/>
                </a:solidFill>
                <a:latin typeface="Calibri"/>
              </a:rPr>
              <a:t>• Automated Baseline &amp; Project Additionality calculation.
• Permanence &amp; 10–20% Non-Permanence Risk Buffer.
• 1-Click Tamper-evident PDF Dossier generation.
• Sovereign UAE cloud hosting (me-central1).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7230832" y="25530048"/>
            <a:ext cx="12216384" cy="196596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 w="12700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27413712" y="25621488"/>
            <a:ext cx="1185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0B4D8"/>
                </a:solidFill>
                <a:latin typeface="Calibri"/>
              </a:rPr>
              <a:t>COASTAL SENTINEL PRODUCTION SYSTEM BENCHMARKS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7367992" y="25895808"/>
            <a:ext cx="29169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0D284"/>
                </a:solidFill>
                <a:latin typeface="Calibri"/>
              </a:rPr>
              <a:t>&lt; 600ms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7367992" y="26398728"/>
            <a:ext cx="2916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API Response Latency
(FastAPI me-central1)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0376368" y="25895808"/>
            <a:ext cx="29169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69 Months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0376368" y="26398728"/>
            <a:ext cx="2916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Continuous Satellite Depth
(Jan 2021 – Sep 2026)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3384744" y="25895808"/>
            <a:ext cx="29169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0D284"/>
                </a:solidFill>
                <a:latin typeface="Calibri"/>
              </a:rPr>
              <a:t>25 Patches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3384744" y="26398728"/>
            <a:ext cx="2916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DBSCAN Monitored Nodes
Across UAE Coastline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393120" y="25895808"/>
            <a:ext cx="29169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1-Click PDF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6393120" y="26398728"/>
            <a:ext cx="2916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Verra VM0033 Dossier
Automated Issuance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57200" y="35615880"/>
            <a:ext cx="19485864" cy="3840479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20290535" y="35615880"/>
            <a:ext cx="19485864" cy="3840479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566928" y="35780472"/>
            <a:ext cx="19266408" cy="960120"/>
          </a:xfrm>
          <a:prstGeom prst="roundRect">
            <a:avLst>
              <a:gd name="adj" fmla="val 8000"/>
            </a:avLst>
          </a:prstGeom>
          <a:solidFill>
            <a:srgbClr val="3E1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66928" y="35780472"/>
            <a:ext cx="201168" cy="96012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886968" y="35949636"/>
            <a:ext cx="621792" cy="621792"/>
          </a:xfrm>
          <a:prstGeom prst="roundRect">
            <a:avLst>
              <a:gd name="adj" fmla="val 50000"/>
            </a:avLst>
          </a:prstGeom>
          <a:solidFill>
            <a:srgbClr val="00D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71224"/>
                </a:solidFill>
                <a:latin typeface="Calibri"/>
              </a:rPr>
              <a:t>04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764792" y="35780472"/>
            <a:ext cx="17885664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CONCLUSIONS &amp; SCIENTIFIC CONTRIBUTIONS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786384" y="37014912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D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71224"/>
                </a:solidFill>
              </a:rPr>
              <a:t>✓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225295" y="36978336"/>
            <a:ext cx="1835200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E127A"/>
                </a:solidFill>
                <a:latin typeface="Calibri"/>
              </a:rPr>
              <a:t>Empirical Superiority: </a:t>
            </a:r>
            <a:r>
              <a:rPr sz="1200" b="0" i="0">
                <a:solidFill>
                  <a:srgbClr val="0F172A"/>
                </a:solidFill>
                <a:latin typeface="Calibri"/>
              </a:rPr>
              <a:t>ST-GNN outperforms all 4 baseline models on RMSE, MAE, R² and NSE, proving spatial graph topology and temporal dynamics together drive accurate blue carbon MRV.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786384" y="37453823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D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71224"/>
                </a:solidFill>
              </a:rPr>
              <a:t>✓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225295" y="37417247"/>
            <a:ext cx="1835200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E127A"/>
                </a:solidFill>
                <a:latin typeface="Calibri"/>
              </a:rPr>
              <a:t>Hydrodynamic Innovation: </a:t>
            </a:r>
            <a:r>
              <a:rPr sz="1200" b="0" i="0">
                <a:solidFill>
                  <a:srgbClr val="0F172A"/>
                </a:solidFill>
                <a:latin typeface="Calibri"/>
              </a:rPr>
              <a:t>Novel 73-edge tidal proxy models directional sediment flow, capturing allochthonous vs autochthonous carbon exchange without destructive field isotopic sampling.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786384" y="37892735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D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71224"/>
                </a:solidFill>
              </a:rPr>
              <a:t>✓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225295" y="37856159"/>
            <a:ext cx="1835200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E127A"/>
                </a:solidFill>
                <a:latin typeface="Calibri"/>
              </a:rPr>
              <a:t>Arid-Coast Imputation: </a:t>
            </a:r>
            <a:r>
              <a:rPr sz="1200" b="0" i="0">
                <a:solidFill>
                  <a:srgbClr val="0F172A"/>
                </a:solidFill>
                <a:latin typeface="Calibri"/>
              </a:rPr>
              <a:t>Transfer learning from Sundarbans to UAE arid mangroves resolves GEDI LiDAR sparsity (~4%/mo), establishing the first 69-month continuous canopy height series in the Gulf.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786384" y="38331647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D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71224"/>
                </a:solidFill>
              </a:rPr>
              <a:t>✓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225295" y="38295071"/>
            <a:ext cx="1835200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E127A"/>
                </a:solidFill>
                <a:latin typeface="Calibri"/>
              </a:rPr>
              <a:t>Regulatory Democratization: </a:t>
            </a:r>
            <a:r>
              <a:rPr sz="1200" b="0" i="0">
                <a:solidFill>
                  <a:srgbClr val="0F172A"/>
                </a:solidFill>
                <a:latin typeface="Calibri"/>
              </a:rPr>
              <a:t>Replaces $50K manual field surveys with continuous automated audits, cutting verification costs by 70% and unlocking UAE mangroves on the $2B Voluntary Carbon Market.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786384" y="38779703"/>
            <a:ext cx="18827496" cy="530352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 w="10160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69264" y="38843711"/>
            <a:ext cx="184617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FUTURE WORK: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Sentinel-3 ocean color coupling  •  Hyperspectral CHIME expansion  •  Saltmarsh &amp; Seagrass scope  •  Edge mobile app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20400264" y="35780472"/>
            <a:ext cx="19266408" cy="960120"/>
          </a:xfrm>
          <a:prstGeom prst="roundRect">
            <a:avLst>
              <a:gd name="adj" fmla="val 8000"/>
            </a:avLst>
          </a:prstGeom>
          <a:solidFill>
            <a:srgbClr val="3E1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0400264" y="35780472"/>
            <a:ext cx="201168" cy="96012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ounded Rectangle 183"/>
          <p:cNvSpPr/>
          <p:nvPr/>
        </p:nvSpPr>
        <p:spPr>
          <a:xfrm>
            <a:off x="20720304" y="35949636"/>
            <a:ext cx="621792" cy="621792"/>
          </a:xfrm>
          <a:prstGeom prst="roundRect">
            <a:avLst>
              <a:gd name="adj" fmla="val 50000"/>
            </a:avLst>
          </a:prstGeom>
          <a:solidFill>
            <a:srgbClr val="00D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71224"/>
                </a:solidFill>
                <a:latin typeface="Calibri"/>
              </a:rPr>
              <a:t>05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1598128" y="35780472"/>
            <a:ext cx="17885664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REFERENCES &amp; VERIFICATION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0619719" y="36978336"/>
            <a:ext cx="1411833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F172A"/>
                </a:solidFill>
                <a:latin typeface="Calibri"/>
              </a:rPr>
              <a:t>[1] Dubayah, R. et al. (2020). The Global Ecosystem Dynamics Investigation: High-resolution laser ranging of forest canopies. Science of Remote Sensing, 1, 100002.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0619719" y="37307520"/>
            <a:ext cx="1411833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F172A"/>
                </a:solidFill>
                <a:latin typeface="Calibri"/>
              </a:rPr>
              <a:t>[2] Kipf, T.N. &amp; Welling, M. (2017). Semi-supervised classification with graph convolutional networks. ICLR.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0619719" y="37636704"/>
            <a:ext cx="1411833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F172A"/>
                </a:solidFill>
                <a:latin typeface="Calibri"/>
              </a:rPr>
              <a:t>[3] Yu, B., Yin, H. &amp; Zhu, Z. (2018). Spatio-temporal graph convolutional networks. IJCAI, pp. 3634–3640.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0619719" y="37965888"/>
            <a:ext cx="1411833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F172A"/>
                </a:solidFill>
                <a:latin typeface="Calibri"/>
              </a:rPr>
              <a:t>[4] Lundberg, S.M. &amp; Lee, S.I. (2017). A unified approach to interpreting model predictions. NeurIPS, pp. 4765–4774.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0619719" y="38295071"/>
            <a:ext cx="1411833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F172A"/>
                </a:solidFill>
                <a:latin typeface="Calibri"/>
              </a:rPr>
              <a:t>[5] Verra (2022). VM0033 Tidal Wetland and Seagrass Restoration Methodology, v2.1. Washington DC: Verra.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0619719" y="38624255"/>
            <a:ext cx="1411833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F172A"/>
                </a:solidFill>
                <a:latin typeface="Calibri"/>
              </a:rPr>
              <a:t>[6] Macreadie, P.I. et al. (2021). The future of blue carbon science. Nature Reviews Earth &amp; Environment, 2(12).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20619719" y="38953439"/>
            <a:ext cx="1411833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F172A"/>
                </a:solidFill>
                <a:latin typeface="Calibri"/>
              </a:rPr>
              <a:t>[7] Hamilton, S.E. &amp; Friess, D.A. (2018). Global carbon stocks and potential losses due to mangrove deforestation. Nature Climate Change, 8(3).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35058096" y="36393120"/>
            <a:ext cx="438912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35058096" y="36502848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E127A"/>
                </a:solidFill>
                <a:latin typeface="Calibri"/>
              </a:rPr>
              <a:t>REPRODUCIBILITY &amp; CODE</a:t>
            </a:r>
          </a:p>
        </p:txBody>
      </p:sp>
      <p:pic>
        <p:nvPicPr>
          <p:cNvPr id="195" name="Picture 194" descr="qr_cod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83976" y="36813744"/>
            <a:ext cx="1737360" cy="1737360"/>
          </a:xfrm>
          <a:prstGeom prst="rect">
            <a:avLst/>
          </a:prstGeom>
        </p:spPr>
      </p:pic>
      <p:sp>
        <p:nvSpPr>
          <p:cNvPr id="196" name="TextBox 195"/>
          <p:cNvSpPr txBox="1"/>
          <p:nvPr/>
        </p:nvSpPr>
        <p:spPr>
          <a:xfrm>
            <a:off x="35149536" y="38605968"/>
            <a:ext cx="4206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71224"/>
                </a:solidFill>
                <a:latin typeface="Calibri"/>
              </a:rPr>
              <a:t>Scan for GitHub Repository &amp; Live MRV Pipeline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475569"/>
                </a:solidFill>
                <a:latin typeface="Calibri"/>
              </a:rPr>
              <a:t>Open-Source Models • Colab Notebooks • Verra Dossiers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0" y="39547800"/>
            <a:ext cx="40233600" cy="6858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0" y="39547800"/>
            <a:ext cx="40233600" cy="73152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457200" y="39675816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MSc Data Science &amp; Artificial Intelligence  |  CST4090 Post-Graduate Thesis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0B4D8"/>
                </a:solidFill>
                <a:latin typeface="Calibri"/>
              </a:rPr>
              <a:t>Middlesex University Dubai  •  Department of Computer Engineering &amp; Informatics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1887200" y="39694104"/>
            <a:ext cx="1645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Author: Narendra Gandikota (NG661@live.mdx.ac.uk)  •  Supervisor: Dr. Krishnadas Nanath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29260800" y="3967581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Dubai Knowledge Park, Blocks 16, 17, 19  •  Dubai, UAE</a:t>
            </a:r>
          </a:p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0D284"/>
                </a:solidFill>
                <a:latin typeface="Calibri"/>
              </a:rPr>
              <a:t>Published: October 2026  •  Verra VM0033 Compliant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