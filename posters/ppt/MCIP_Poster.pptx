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0233600" cy="4023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0" cy="4023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0" cy="4892040"/>
          </a:xfrm>
          <a:prstGeom prst="rect">
            <a:avLst/>
          </a:prstGeom>
          <a:solidFill>
            <a:srgbClr val="06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146000" y="0"/>
            <a:ext cx="15087600" cy="4892040"/>
          </a:xfrm>
          <a:prstGeom prst="rect">
            <a:avLst/>
          </a:prstGeom>
          <a:solidFill>
            <a:srgbClr val="0A1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45736"/>
            <a:ext cx="40233600" cy="146304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20040" cy="4745736"/>
          </a:xfrm>
          <a:prstGeom prst="rect">
            <a:avLst/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56032"/>
            <a:ext cx="1691640" cy="7498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dx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10896"/>
            <a:ext cx="1536192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06040" y="384048"/>
            <a:ext cx="24231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750" b="1" i="0">
                <a:solidFill>
                  <a:srgbClr val="00B4D8"/>
                </a:solidFill>
                <a:latin typeface="Calibri"/>
              </a:rPr>
              <a:t>MIDDLESEX UNIVERSITY DUBAI  •  FACULTY OF SCIENCE &amp;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269748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Mangrove Coastal Intelligence Platform (MCIP)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269748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050" b="0" i="0">
                <a:solidFill>
                  <a:srgbClr val="00D284"/>
                </a:solidFill>
                <a:latin typeface="Calibri"/>
              </a:rPr>
              <a:t>Spatio-Temporal Graph Neural Networks for Automated Blue Carbon MRV in UAE Mangrove Ecosystems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2697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Narendra Gandikota</a:t>
            </a:r>
            <a:r>
              <a:rPr sz="1550" b="0" i="0">
                <a:solidFill>
                  <a:srgbClr val="94A3B8"/>
                </a:solidFill>
                <a:latin typeface="Calibri"/>
              </a:rPr>
              <a:t>  |  NG661@live.mdx.ac.uk  |  MSc Data Science &amp; AI CST4090 Thesis  |  Supervisor: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Dr. Krishnadas Nanath</a:t>
            </a:r>
            <a:r>
              <a:rPr sz="1550" b="0" i="0">
                <a:solidFill>
                  <a:srgbClr val="94A3B8"/>
                </a:solidFill>
                <a:latin typeface="Calibri"/>
              </a:rPr>
              <a:t>  |  October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22191"/>
            <a:ext cx="269748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0B4D8"/>
                </a:solidFill>
                <a:latin typeface="Calibri"/>
              </a:rPr>
              <a:t>Regulatory Framework: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Verra VM0033 Methodology  •  IPCC Tier-2 Blue Carbon Accounting  •  UAE Federal Decree-Law No. 45/2021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614880" y="411480"/>
            <a:ext cx="11887200" cy="4069080"/>
          </a:xfrm>
          <a:prstGeom prst="roundRect">
            <a:avLst>
              <a:gd name="adj" fmla="val 8000"/>
            </a:avLst>
          </a:prstGeom>
          <a:solidFill>
            <a:srgbClr val="0F2548"/>
          </a:solidFill>
          <a:ln w="1905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614880" y="411480"/>
            <a:ext cx="11887200" cy="128016"/>
          </a:xfrm>
          <a:prstGeom prst="roundRect">
            <a:avLst>
              <a:gd name="adj" fmla="val 8000"/>
            </a:avLst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7488" y="795528"/>
            <a:ext cx="3337560" cy="3337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1565088" y="685800"/>
            <a:ext cx="764438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0B4D8"/>
                </a:solidFill>
                <a:latin typeface="Calibri"/>
              </a:rPr>
              <a:t>OFFICIAL RESEARCH &amp; PLATFORM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65088" y="978408"/>
            <a:ext cx="764438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50" b="1" i="0">
                <a:solidFill>
                  <a:srgbClr val="FFFFFF"/>
                </a:solidFill>
                <a:latin typeface="Calibri"/>
              </a:rPr>
              <a:t>Mangrove Coastal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65088" y="1453895"/>
            <a:ext cx="76443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0D284"/>
                </a:solidFill>
                <a:latin typeface="Calibri"/>
              </a:rPr>
              <a:t>Coastal Sentinel AI Digital Twin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65088" y="1783080"/>
            <a:ext cx="7644383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20" b="1" i="0">
                <a:solidFill>
                  <a:srgbClr val="00B4D8"/>
                </a:solidFill>
                <a:latin typeface="Calibri"/>
              </a:rPr>
              <a:t>• Model Core: </a:t>
            </a:r>
            <a:r>
              <a:rPr sz="1220" b="0" i="0">
                <a:solidFill>
                  <a:srgbClr val="94A3B8"/>
                </a:solidFill>
                <a:latin typeface="Calibri"/>
              </a:rPr>
              <a:t>Spatio-Temporal Graph Neural Network (ST-GNN)
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20" b="1" i="0">
                <a:solidFill>
                  <a:srgbClr val="00B4D8"/>
                </a:solidFill>
                <a:latin typeface="Calibri"/>
              </a:rPr>
              <a:t>• Multi-Sensor: </a:t>
            </a:r>
            <a:r>
              <a:rPr sz="1220" b="0" i="0">
                <a:solidFill>
                  <a:srgbClr val="94A3B8"/>
                </a:solidFill>
                <a:latin typeface="Calibri"/>
              </a:rPr>
              <a:t>Sentinel-1/2 SAR &amp; NASA GEDI LiDAR Ingestion
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20" b="1" i="0">
                <a:solidFill>
                  <a:srgbClr val="00B4D8"/>
                </a:solidFill>
                <a:latin typeface="Calibri"/>
              </a:rPr>
              <a:t>• Cloud Region: </a:t>
            </a:r>
            <a:r>
              <a:rPr sz="1220" b="0" i="0">
                <a:solidFill>
                  <a:srgbClr val="94A3B8"/>
                </a:solidFill>
                <a:latin typeface="Calibri"/>
              </a:rPr>
              <a:t>me-central1 UAE Sovereign Infrastructure
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20" b="1" i="0">
                <a:solidFill>
                  <a:srgbClr val="00B4D8"/>
                </a:solidFill>
                <a:latin typeface="Calibri"/>
              </a:rPr>
              <a:t>• Carbon Standards: </a:t>
            </a:r>
            <a:r>
              <a:rPr sz="1220" b="0" i="0">
                <a:solidFill>
                  <a:srgbClr val="94A3B8"/>
                </a:solidFill>
                <a:latin typeface="Calibri"/>
              </a:rPr>
              <a:t>Verra VM0033 &amp; IPCC Tier-2 Compliant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65088" y="3749039"/>
            <a:ext cx="7461504" cy="402336"/>
          </a:xfrm>
          <a:prstGeom prst="roundRect">
            <a:avLst>
              <a:gd name="adj" fmla="val 22000"/>
            </a:avLst>
          </a:prstGeom>
          <a:solidFill>
            <a:srgbClr val="061220"/>
          </a:solidFill>
          <a:ln w="12700">
            <a:solidFill>
              <a:srgbClr val="00D2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65088" y="3794759"/>
            <a:ext cx="7461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D284"/>
                </a:solidFill>
                <a:latin typeface="Calibri"/>
              </a:rPr>
              <a:t>● PRODUCTION SYSTEM ACTIVE  •  10-MIN AUDIT CADENCE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120640"/>
            <a:ext cx="12862560" cy="30312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685520" y="5120640"/>
            <a:ext cx="12862560" cy="30312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913840" y="5120640"/>
            <a:ext cx="12862560" cy="30312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5285231"/>
            <a:ext cx="12643104" cy="1005840"/>
          </a:xfrm>
          <a:prstGeom prst="roundRect">
            <a:avLst>
              <a:gd name="adj" fmla="val 15000"/>
            </a:avLst>
          </a:prstGeom>
          <a:solidFill>
            <a:srgbClr val="061122"/>
          </a:solidFill>
          <a:ln w="1524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5285231"/>
            <a:ext cx="201168" cy="10058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6968" y="5458968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061122"/>
                </a:solidFill>
                <a:latin typeface="Calibri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19656" y="5285231"/>
            <a:ext cx="1120749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PROBLEM &amp; THEORETICAL FOUNDATION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6501383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6455663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THE BLUE CARBON MRV BOTTLENECK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" y="6857999"/>
            <a:ext cx="1220419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6384" y="6857999"/>
            <a:ext cx="164592" cy="2103120"/>
          </a:xfrm>
          <a:prstGeom prst="rect">
            <a:avLst/>
          </a:prstGeom>
          <a:solidFill>
            <a:srgbClr val="D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6424" y="6949439"/>
            <a:ext cx="11792712" cy="1938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420" b="1" i="0">
                <a:solidFill>
                  <a:srgbClr val="061122"/>
                </a:solidFill>
                <a:latin typeface="Calibri"/>
              </a:rPr>
              <a:t>• Coastal Mangrove Sequestration: </a:t>
            </a:r>
            <a:r>
              <a:rPr sz="1380" b="0" i="0">
                <a:solidFill>
                  <a:srgbClr val="0F172A"/>
                </a:solidFill>
                <a:latin typeface="Calibri"/>
              </a:rPr>
              <a:t>The UAE is home to &gt;40,000 hectares of arid mangroves (Avicennia marina), sequestering up to 6 tCO2e/ha/year in biomass and sediment, pivotal for the UAE Net Zero 2050 Strategic Initiative.
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420" b="1" i="0">
                <a:solidFill>
                  <a:srgbClr val="061122"/>
                </a:solidFill>
                <a:latin typeface="Calibri"/>
              </a:rPr>
              <a:t>• Methodological Failure: </a:t>
            </a:r>
            <a:r>
              <a:rPr sz="1380" b="0" i="0">
                <a:solidFill>
                  <a:srgbClr val="0F172A"/>
                </a:solidFill>
                <a:latin typeface="Calibri"/>
              </a:rPr>
              <a:t>Traditional manual MRV relies on physical field campaigns (arborist tape measurements and destructive sediment coring), costing $120,000+ per 5-year cycle, taking 6 to 18 months of lab audit delay, and failing to differentiate allochthonous sediment.
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420" b="1" i="0">
                <a:solidFill>
                  <a:srgbClr val="061122"/>
                </a:solidFill>
                <a:latin typeface="Calibri"/>
              </a:rPr>
              <a:t>• $2.0B Market Disconnect: </a:t>
            </a:r>
            <a:r>
              <a:rPr sz="1380" b="0" i="0">
                <a:solidFill>
                  <a:srgbClr val="0F172A"/>
                </a:solidFill>
                <a:latin typeface="Calibri"/>
              </a:rPr>
              <a:t>High verification barriers and audit opacity exclude UAE blue carbon assets from the international Voluntary Carbon Market (VCM), leaving valuable natural capital unmonetized.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" y="9125711"/>
            <a:ext cx="3946144" cy="1874519"/>
          </a:xfrm>
          <a:prstGeom prst="roundRect">
            <a:avLst>
              <a:gd name="adj" fmla="val 12000"/>
            </a:avLst>
          </a:prstGeom>
          <a:solidFill>
            <a:srgbClr val="0F2548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9198863"/>
            <a:ext cx="3763264" cy="97475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0D284"/>
                </a:solidFill>
                <a:latin typeface="Calibri"/>
              </a:rPr>
              <a:t>40K+ 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10137038"/>
            <a:ext cx="3763264" cy="7900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UAE Mangrove Canopy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00B4D8"/>
                </a:solidFill>
                <a:latin typeface="Calibri"/>
              </a:rPr>
              <a:t>EAD Verified Ground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15408" y="9125711"/>
            <a:ext cx="3946144" cy="1874519"/>
          </a:xfrm>
          <a:prstGeom prst="roundRect">
            <a:avLst>
              <a:gd name="adj" fmla="val 12000"/>
            </a:avLst>
          </a:prstGeom>
          <a:solidFill>
            <a:srgbClr val="0F2548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6848" y="9198863"/>
            <a:ext cx="3763264" cy="97475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AB005"/>
                </a:solidFill>
                <a:latin typeface="Calibri"/>
              </a:rPr>
              <a:t>$2.0B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6848" y="10137038"/>
            <a:ext cx="3763264" cy="7900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Voluntary Carbon Gap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00B4D8"/>
                </a:solidFill>
                <a:latin typeface="Calibri"/>
              </a:rPr>
              <a:t>Unmonetized Assets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44432" y="9125711"/>
            <a:ext cx="3946144" cy="1874519"/>
          </a:xfrm>
          <a:prstGeom prst="roundRect">
            <a:avLst>
              <a:gd name="adj" fmla="val 12000"/>
            </a:avLst>
          </a:prstGeom>
          <a:solidFill>
            <a:srgbClr val="0F2548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5872" y="9198863"/>
            <a:ext cx="3763264" cy="97475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0B4D8"/>
                </a:solidFill>
                <a:latin typeface="Calibri"/>
              </a:rPr>
              <a:t>70%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5872" y="10137038"/>
            <a:ext cx="3763264" cy="7900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MRV Cost Reduction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80" b="0" i="0">
                <a:solidFill>
                  <a:srgbClr val="00B4D8"/>
                </a:solidFill>
                <a:latin typeface="Calibri"/>
              </a:rPr>
              <a:t>Automated Digital MRV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" y="11210544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11164824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PRIMARY RESEARCH INQUIRY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" y="11567159"/>
            <a:ext cx="12204192" cy="1783080"/>
          </a:xfrm>
          <a:prstGeom prst="roundRect">
            <a:avLst>
              <a:gd name="adj" fmla="val 8000"/>
            </a:avLst>
          </a:prstGeom>
          <a:solidFill>
            <a:srgbClr val="061122"/>
          </a:solidFill>
          <a:ln w="1524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4983" y="11676887"/>
            <a:ext cx="11746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B4D8"/>
                </a:solidFill>
                <a:latin typeface="Calibri"/>
              </a:rPr>
              <a:t>POST-GRADUATE RESEARCH HYPOTHESIS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3" y="11951207"/>
            <a:ext cx="11746992" cy="1344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80" b="0" i="1">
                <a:solidFill>
                  <a:srgbClr val="FFFFFF"/>
                </a:solidFill>
                <a:latin typeface="Calibri"/>
              </a:rPr>
              <a:t>"Can a Spatio-Temporal Graph Neural Network (ST-GNN) trained on multi-source satellite telemetry and hydrodynamic tidal connectivity provide significantly more accurate, robust, and explainable monthly carbon sequestration estimates and 12-month forecasts than non-spatial or non-temporal baseline models?"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" y="13560551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13514831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THEORETICAL ARCHITECTURE &amp; SYNTHESIS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6384" y="13917167"/>
            <a:ext cx="12204192" cy="772667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Figure_2_1_Conceptual_Frame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4026895"/>
            <a:ext cx="11338560" cy="640080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14983" y="20500848"/>
            <a:ext cx="117469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61122"/>
                </a:solidFill>
                <a:latin typeface="Calibri"/>
              </a:rPr>
              <a:t>Figure 1: Conceptual Framework of the Literature Review. </a:t>
            </a:r>
            <a:r>
              <a:rPr sz="1320" b="0" i="0">
                <a:solidFill>
                  <a:srgbClr val="475569"/>
                </a:solidFill>
                <a:latin typeface="Calibri"/>
              </a:rPr>
              <a:t>Harmonizes Remote Sensing (Theme 1), 3D Spaceborne LiDAR (Theme 2), Relational ST-GNNs (Theme 3), Carbon Accounting Standards (Theme 4), and Explainable AI (Theme 5) to resolve 3 critical research gaps: GEDI 3D sparsity, 1D spatial isolation, and audit opacity, culminating in the MCIP Autonomous Digital Twin.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6384" y="21854159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21808439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MULTI-SOURCE SATELLITE REPOSITORY (68 CONSECUTIVE MONTHS)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786384" y="22210775"/>
          <a:ext cx="1220419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006"/>
                <a:gridCol w="3173089"/>
                <a:gridCol w="2684922"/>
                <a:gridCol w="3417173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Satellite Sensor</a:t>
                      </a:r>
                    </a:p>
                  </a:txBody>
                  <a:tcPr marL="109728" marR="109728" marT="54864" marB="54864" anchor="ctr">
                    <a:solidFill>
                      <a:srgbClr val="0818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Constellation / Instrument</a:t>
                      </a:r>
                    </a:p>
                  </a:txBody>
                  <a:tcPr marL="109728" marR="109728" marT="54864" marB="54864" anchor="ctr">
                    <a:solidFill>
                      <a:srgbClr val="0818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Spatial / Temporal Resolution</a:t>
                      </a:r>
                    </a:p>
                  </a:txBody>
                  <a:tcPr marL="109728" marR="109728" marT="54864" marB="54864" anchor="ctr">
                    <a:solidFill>
                      <a:srgbClr val="0818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Extracted Features &amp; Physical Relevance</a:t>
                      </a:r>
                    </a:p>
                  </a:txBody>
                  <a:tcPr marL="109728" marR="109728" marT="54864" marB="54864" anchor="ctr">
                    <a:solidFill>
                      <a:srgbClr val="0818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Sentinel-2 MSI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ESA Multispectral (13 bands)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10 m / 5-day cycle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B01-B12, NDVI, EVI, NDWI, MNDWI (Photosynthetic vigour)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Sentinel-1 SAR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ESA C-Band SAR (5.405 GHz)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10 m / 6–12 days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VV, VH backscatter, VV/VH ratio (Canopy volumetric density)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NASA GEDI LiDAR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ISS Spaceborne Laser Altimeter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25 m footprint (sparse)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RH100, RH98, RH95, RH75, RH50, PAI, FHD, FCOVER, Biomass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OpenWeatherMap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ERA5 Atmospheric Reanalysis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Continuous hourly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Sea surface temperature, wind vectors, barometric pressure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786384" y="24816815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5840" y="24771095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CORE RESEARCH OBJECTIVES (O1 – O6)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" y="25173431"/>
            <a:ext cx="120213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60" b="1" i="0">
                <a:solidFill>
                  <a:srgbClr val="061122"/>
                </a:solidFill>
                <a:latin typeface="Calibri"/>
              </a:rPr>
              <a:t>O1. Multi-Sensor Fusion: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Co-register Sentinel-1 SAR, Sentinel-2 Multispectral &amp; GEDI LiDAR over 68 months (Jan 2021 – Aug 2026).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" y="25566623"/>
            <a:ext cx="120213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60" b="1" i="0">
                <a:solidFill>
                  <a:srgbClr val="061122"/>
                </a:solidFill>
                <a:latin typeface="Calibri"/>
              </a:rPr>
              <a:t>O2. Neural LiDAR Imputation: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Develop transfer learning imputation resolving GEDI sparsity from Sundarbans to UAE arid mangrove stands.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7824" y="25959815"/>
            <a:ext cx="120213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60" b="1" i="0">
                <a:solidFill>
                  <a:srgbClr val="061122"/>
                </a:solidFill>
                <a:latin typeface="Calibri"/>
              </a:rPr>
              <a:t>O3. Hydrodynamic Graph Formulation: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Delineate 53 DBSCAN patch nodes connected by 86 directional tidal and sedimental flux edges.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7824" y="26353007"/>
            <a:ext cx="120213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60" b="1" i="0">
                <a:solidFill>
                  <a:srgbClr val="061122"/>
                </a:solidFill>
                <a:latin typeface="Calibri"/>
              </a:rPr>
              <a:t>O4. Spatio-Temporal Deep Learning: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Train ST-GNN forecasting 12 months ahead; rigorously benchmark vs Random Forest, LSTM, and GCN.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" y="26746199"/>
            <a:ext cx="120213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60" b="1" i="0">
                <a:solidFill>
                  <a:srgbClr val="061122"/>
                </a:solidFill>
                <a:latin typeface="Calibri"/>
              </a:rPr>
              <a:t>O5. Causal Explainability &amp; Auditing: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Formulate SHAP feature attribution with Gemini 2.5 Flash conversational auditing under Verra VM0033.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" y="27139391"/>
            <a:ext cx="12021312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60" b="1" i="0">
                <a:solidFill>
                  <a:srgbClr val="061122"/>
                </a:solidFill>
                <a:latin typeface="Calibri"/>
              </a:rPr>
              <a:t>O6. Enterprise Production Deployment: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Deploy Coastal Sentinel on sovereign Google Cloud me-central1 with &lt;600ms query latency.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6384" y="27742895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" y="27697175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STAGE 1: MULTI-SPECTRAL CANOPY PIXEL CLASSIFICATION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86384" y="28099511"/>
            <a:ext cx="12204192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Stage_1_Classifiaction_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28209239"/>
            <a:ext cx="4389120" cy="329184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495544" y="28209239"/>
            <a:ext cx="73578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STAGE 1 DEEP ANN TEST PARTITION RESULTS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95544" y="28520135"/>
            <a:ext cx="7357872" cy="3044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60" b="1" i="0">
                <a:solidFill>
                  <a:srgbClr val="061122"/>
                </a:solidFill>
                <a:latin typeface="Calibri"/>
              </a:rPr>
              <a:t>• Dataset Scope: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62,310 test pixels across 5 balanced classes (Forest, Mangrove, Sand, Urban, Water).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60" b="1" i="0">
                <a:solidFill>
                  <a:srgbClr val="061122"/>
                </a:solidFill>
                <a:latin typeface="Calibri"/>
              </a:rPr>
              <a:t>• Class Balancing: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RandomUnderSampler applied to eliminate severe coastal sand/water majority bias.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60" b="1" i="0">
                <a:solidFill>
                  <a:srgbClr val="061122"/>
                </a:solidFill>
                <a:latin typeface="Calibri"/>
              </a:rPr>
              <a:t>• Mangrove Precision: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0.9996 (99.96%)  •  </a:t>
            </a:r>
            <a:r>
              <a:rPr sz="1360" b="1" i="0">
                <a:solidFill>
                  <a:srgbClr val="061122"/>
                </a:solidFill>
                <a:latin typeface="Calibri"/>
              </a:rPr>
              <a:t>Mangrove Recall: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0.9994 (12,450 test pixels, TPR = 99.94%)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60" b="1" i="0">
                <a:solidFill>
                  <a:srgbClr val="061122"/>
                </a:solidFill>
                <a:latin typeface="Calibri"/>
              </a:rPr>
              <a:t>• Macro Metrics: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Accuracy: 99.95%  •  Macro F1-Score: 0.9995  •  Loss: 0.00073 restored from epoch 6.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60" b="1" i="0">
                <a:solidFill>
                  <a:srgbClr val="061122"/>
                </a:solidFill>
                <a:latin typeface="Calibri"/>
              </a:rPr>
              <a:t>• Discriminative Isolation: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Zero confusion with urban infrastructure or tidal water, reliably isolating 3,230 coordinates.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6384" y="31830263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5840" y="31784544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REGULATORY ALIGNMENT &amp; UAE NET ZERO 2050 POLICY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6384" y="32186879"/>
            <a:ext cx="12204192" cy="3246120"/>
          </a:xfrm>
          <a:prstGeom prst="roundRect">
            <a:avLst>
              <a:gd name="adj" fmla="val 8000"/>
            </a:avLst>
          </a:prstGeom>
          <a:solidFill>
            <a:srgbClr val="061122"/>
          </a:solidFill>
          <a:ln w="1524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4983" y="32333183"/>
            <a:ext cx="117469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0B4D8"/>
                </a:solidFill>
                <a:latin typeface="Calibri"/>
              </a:rPr>
              <a:t>SOVEREIGN POLICY ALIGNMENT &amp; STANDARDS COMPLIANCE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4983" y="32662368"/>
            <a:ext cx="11746992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D284"/>
                </a:solidFill>
                <a:latin typeface="Calibri"/>
              </a:rPr>
              <a:t>• UAE Net Zero 2050 Strategic Initiative: </a:t>
            </a:r>
            <a:r>
              <a:rPr sz="1320" b="0" i="0">
                <a:solidFill>
                  <a:srgbClr val="FFFFFF"/>
                </a:solidFill>
                <a:latin typeface="Calibri"/>
              </a:rPr>
              <a:t>Directly operationalizes the national COP28 pledge to plant and safeguard 100 Million Mangroves by 2030, establishing verified blue carbon natural capital across all seven emirates.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D284"/>
                </a:solidFill>
                <a:latin typeface="Calibri"/>
              </a:rPr>
              <a:t>• Verra VM0033 Standard Compliance: </a:t>
            </a:r>
            <a:r>
              <a:rPr sz="1320" b="0" i="0">
                <a:solidFill>
                  <a:srgbClr val="FFFFFF"/>
                </a:solidFill>
                <a:latin typeface="Calibri"/>
              </a:rPr>
              <a:t>Adheres strictly to Tidal Wetland and Seagrass Restoration methodology v2.1, enforcing standardized baseline additionality, allometric biomass scaling, and 100-year permanence risk buffers (10–20%).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D284"/>
                </a:solidFill>
                <a:latin typeface="Calibri"/>
              </a:rPr>
              <a:t>• Sovereign Data Localization: </a:t>
            </a:r>
            <a:r>
              <a:rPr sz="1320" b="0" i="0">
                <a:solidFill>
                  <a:srgbClr val="FFFFFF"/>
                </a:solidFill>
                <a:latin typeface="Calibri"/>
              </a:rPr>
              <a:t>Enterprise hosting in Google Cloud me-central1 (Doha/Dammam), fully complying with UAE Federal Decree-Law No. 45/2021 regarding environmental and geospatial data sovereignty.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D284"/>
                </a:solidFill>
                <a:latin typeface="Calibri"/>
              </a:rPr>
              <a:t>• 70% Verification Cost Reduction: </a:t>
            </a:r>
            <a:r>
              <a:rPr sz="1320" b="0" i="0">
                <a:solidFill>
                  <a:srgbClr val="FFFFFF"/>
                </a:solidFill>
                <a:latin typeface="Calibri"/>
              </a:rPr>
              <a:t>Slashes traditional manual MRV audit costs from $120,000 per 5-year cycle down to $5,000 spot ground-truthing, eliminating audit lag from 18 months to 50 seconds.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D284"/>
                </a:solidFill>
                <a:latin typeface="Calibri"/>
              </a:rPr>
              <a:t>• Unlocking the $2.0B Voluntary Carbon Market: </a:t>
            </a:r>
            <a:r>
              <a:rPr sz="1320" b="0" i="0">
                <a:solidFill>
                  <a:srgbClr val="FFFFFF"/>
                </a:solidFill>
                <a:latin typeface="Calibri"/>
              </a:rPr>
              <a:t>Establishes high-integrity digital MRV provenance, transforming unmonetized UAE coastal ecosystems into internationally tradeable, premium-grade blue carbon credits.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3795248" y="5285231"/>
            <a:ext cx="12643104" cy="1005840"/>
          </a:xfrm>
          <a:prstGeom prst="roundRect">
            <a:avLst>
              <a:gd name="adj" fmla="val 15000"/>
            </a:avLst>
          </a:prstGeom>
          <a:solidFill>
            <a:srgbClr val="061122"/>
          </a:solidFill>
          <a:ln w="1524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3795248" y="5285231"/>
            <a:ext cx="201168" cy="10058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4115288" y="5458968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061122"/>
                </a:solidFill>
                <a:latin typeface="Calibri"/>
              </a:rPr>
              <a:t>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047976" y="5285231"/>
            <a:ext cx="1120749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METHODOLOGY, GEDI IMPUTATION &amp; ST-GNN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4014704" y="6501383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4234160" y="6455663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END-TO-END 4-STAGE METHODOLOGY PIPELINE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4014704" y="6857999"/>
            <a:ext cx="12204192" cy="2286000"/>
          </a:xfrm>
          <a:prstGeom prst="roundRect">
            <a:avLst>
              <a:gd name="adj" fmla="val 8000"/>
            </a:avLst>
          </a:prstGeom>
          <a:solidFill>
            <a:srgbClr val="061122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4197584" y="6967727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061122"/>
                </a:solidFill>
              </a:rPr>
              <a:t>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727936" y="6949440"/>
            <a:ext cx="11335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B4D8"/>
                </a:solidFill>
                <a:latin typeface="Calibri"/>
              </a:rPr>
              <a:t>STAGE 0: INGESTION &amp; QA: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Automated Synchronicity Gate ingests Sentinel-1/2 &amp; GEDI across 3,230 coordinates (68 months, 2021-2026).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4197584" y="74797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061122"/>
                </a:solidFill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727936" y="7461504"/>
            <a:ext cx="11335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B4D8"/>
                </a:solidFill>
                <a:latin typeface="Calibri"/>
              </a:rPr>
              <a:t>STAGE 1: PIXEL CLASSIFIER: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Deep ANN classifier trained on balanced Sentinel-2 bands isolates pure mangrove canopy pixels (99.95% acc).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4197584" y="79918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061122"/>
                </a:solidFill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4727936" y="7973568"/>
            <a:ext cx="11335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B4D8"/>
                </a:solidFill>
                <a:latin typeface="Calibri"/>
              </a:rPr>
              <a:t>STAGE 2: NEURAL IMPUTATION: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Cross-biome transfer learning from Sundarbans (84,200 points) to UAE dwarf stands solving GEDI ~4%/mo void.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4197584" y="8503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061122"/>
                </a:solidFill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727936" y="8485632"/>
            <a:ext cx="113355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B4D8"/>
                </a:solidFill>
                <a:latin typeface="Calibri"/>
              </a:rPr>
              <a:t>STAGE 3: TOPOLOGY &amp; ST-GNN: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DBSCAN clusters 53 patch nodes; 86 hydrodynamic edges pass sediment messages; ST-GNN forecasts 12 months ahead.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4014704" y="9354312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4234160" y="9308592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CROSS-BIOME 3D CANOPY HEIGHT NEURAL IMPUTATION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4014704" y="9710928"/>
            <a:ext cx="12204192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fig2_gedi_imput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47520" y="9802367"/>
            <a:ext cx="11338560" cy="347472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4243304" y="13331951"/>
            <a:ext cx="11746992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61122"/>
                </a:solidFill>
                <a:latin typeface="Calibri"/>
              </a:rPr>
              <a:t>Figure 2: Transfer Learning Convergence across NASA GEDI LiDAR Structural Profiles. </a:t>
            </a:r>
            <a:r>
              <a:rPr sz="1320" b="0" i="0">
                <a:solidFill>
                  <a:srgbClr val="475569"/>
                </a:solidFill>
                <a:latin typeface="Calibri"/>
              </a:rPr>
              <a:t>Pre-trained on 84,200 dense Sundarbans coordinates and fine-tuned on sparse UAE coastal returns. For primary canopy height (rh100), neural imputation achieves RMSE = 3.13 m (Val MSE = 9.81, R² = 0.842), delivering a 46.2% error reduction over Linear Regression (5.82 m) and 25.1% over XGBoost (4.18 m). Yields complete 35-dimensional feature vectors across all 68 consecutive months.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4014704" y="14630400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4234160" y="14584680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ST-GNN HYDRODYNAMIC GRAPH TOPOLOGY &amp; ADJACENCY MATRIX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4014704" y="14987016"/>
            <a:ext cx="12204192" cy="5166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fig3_graph_compos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47520" y="15078456"/>
            <a:ext cx="11338560" cy="393192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14243304" y="19065240"/>
            <a:ext cx="11746992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61122"/>
                </a:solidFill>
                <a:latin typeface="Calibri"/>
              </a:rPr>
              <a:t>Figure 3: Hydrodynamic Graph Construction &amp; Adjacency Matrix across UAE Coastline. </a:t>
            </a:r>
            <a:r>
              <a:rPr sz="1320" b="0" i="0">
                <a:solidFill>
                  <a:srgbClr val="475569"/>
                </a:solidFill>
                <a:latin typeface="Calibri"/>
              </a:rPr>
              <a:t>(A) 53 DBSCAN mangrove patch nodes connected by 86 directional tidal and sedimental edges along the Arabian Gulf. (B) ST-GNN 53x53 weighted adjacency matrix heatmap with Viridis colormap, encoding sedimental (1.0), tidal (0.5), and spatial proximity (0.25) coupling weights, modeling non-Euclidean hydrodynamic connectivity that conventional pixel CNNs miss.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4014704" y="20363688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4234160" y="20317968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MATHEMATICAL ACCOUNTING FORMULATIONS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4014704" y="20720304"/>
            <a:ext cx="5987796" cy="2697480"/>
          </a:xfrm>
          <a:prstGeom prst="roundRect">
            <a:avLst>
              <a:gd name="adj" fmla="val 10000"/>
            </a:avLst>
          </a:prstGeom>
          <a:solidFill>
            <a:srgbClr val="0F2548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4179296" y="20830032"/>
            <a:ext cx="56586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0B4D8"/>
                </a:solidFill>
                <a:latin typeface="Calibri"/>
              </a:rPr>
              <a:t>MANGROVE HEALTH SCORE (MHS)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4179296" y="21086064"/>
            <a:ext cx="565861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0D284"/>
                </a:solidFill>
                <a:latin typeface="Consolas"/>
              </a:rPr>
              <a:t>MHS = (NDVI x 40) + ((RH100/10) x 30) + ((Abs/15) x 30)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179296" y="21543264"/>
            <a:ext cx="565861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FFFFFF"/>
                </a:solidFill>
                <a:latin typeface="Calibri"/>
              </a:rPr>
              <a:t>• NDVI (40%): </a:t>
            </a:r>
            <a:r>
              <a:rPr sz="1280" b="0" i="0">
                <a:solidFill>
                  <a:srgbClr val="94A3B8"/>
                </a:solidFill>
                <a:latin typeface="Calibri"/>
              </a:rPr>
              <a:t>Photosynthetic canopy vigor
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FFFFFF"/>
                </a:solidFill>
                <a:latin typeface="Calibri"/>
              </a:rPr>
              <a:t>• RH100 (30%): </a:t>
            </a:r>
            <a:r>
              <a:rPr sz="1280" b="0" i="0">
                <a:solidFill>
                  <a:srgbClr val="94A3B8"/>
                </a:solidFill>
                <a:latin typeface="Calibri"/>
              </a:rPr>
              <a:t>LiDAR 100th percentile canopy height
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FFFFFF"/>
                </a:solidFill>
                <a:latin typeface="Calibri"/>
              </a:rPr>
              <a:t>• Absorption (30%): </a:t>
            </a:r>
            <a:r>
              <a:rPr sz="1280" b="0" i="0">
                <a:solidFill>
                  <a:srgbClr val="94A3B8"/>
                </a:solidFill>
                <a:latin typeface="Calibri"/>
              </a:rPr>
              <a:t>Monthly carbon uptake rate
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FFFFFF"/>
                </a:solidFill>
                <a:latin typeface="Calibri"/>
              </a:rPr>
              <a:t>• Index Range: </a:t>
            </a:r>
            <a:r>
              <a:rPr sz="1280" b="0" i="0">
                <a:solidFill>
                  <a:srgbClr val="94A3B8"/>
                </a:solidFill>
                <a:latin typeface="Calibri"/>
              </a:rPr>
              <a:t>0 (Degraded) to 100 (Peak Vitality)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0231100" y="20720304"/>
            <a:ext cx="5987796" cy="2697480"/>
          </a:xfrm>
          <a:prstGeom prst="roundRect">
            <a:avLst>
              <a:gd name="adj" fmla="val 10000"/>
            </a:avLst>
          </a:prstGeom>
          <a:solidFill>
            <a:srgbClr val="0F2548"/>
          </a:solidFill>
          <a:ln w="12700">
            <a:solidFill>
              <a:srgbClr val="00D2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0395692" y="20830032"/>
            <a:ext cx="56586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0D284"/>
                </a:solidFill>
                <a:latin typeface="Calibri"/>
              </a:rPr>
              <a:t>IPCC TIER-2 BLUE CARBON ACCOUNTING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0395692" y="21086064"/>
            <a:ext cx="565861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onsolas"/>
              </a:rPr>
              <a:t>C_Stock (MgC/ha) = Biomass x 0.47
CO2e (tCO2e/ha) = C_Stock x (44/12)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0395692" y="21543264"/>
            <a:ext cx="565861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FFFFFF"/>
                </a:solidFill>
                <a:latin typeface="Calibri"/>
              </a:rPr>
              <a:t>• Biomass: </a:t>
            </a:r>
            <a:r>
              <a:rPr sz="1280" b="0" i="0">
                <a:solidFill>
                  <a:srgbClr val="94A3B8"/>
                </a:solidFill>
                <a:latin typeface="Calibri"/>
              </a:rPr>
              <a:t>Derived from GEDI LiDAR RH100 + PAI
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FFFFFF"/>
                </a:solidFill>
                <a:latin typeface="Calibri"/>
              </a:rPr>
              <a:t>• Allometry: </a:t>
            </a:r>
            <a:r>
              <a:rPr sz="1280" b="0" i="0">
                <a:solidFill>
                  <a:srgbClr val="94A3B8"/>
                </a:solidFill>
                <a:latin typeface="Calibri"/>
              </a:rPr>
              <a:t>Arid Avicennia marina coefficient
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FFFFFF"/>
                </a:solidFill>
                <a:latin typeface="Calibri"/>
              </a:rPr>
              <a:t>• Carbon Fraction: </a:t>
            </a:r>
            <a:r>
              <a:rPr sz="1280" b="0" i="0">
                <a:solidFill>
                  <a:srgbClr val="94A3B8"/>
                </a:solidFill>
                <a:latin typeface="Calibri"/>
              </a:rPr>
              <a:t>0.47 IPCC Tier-2 standard
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FFFFFF"/>
                </a:solidFill>
                <a:latin typeface="Calibri"/>
              </a:rPr>
              <a:t>• CO2 Conversion: </a:t>
            </a:r>
            <a:r>
              <a:rPr sz="1280" b="0" i="0">
                <a:solidFill>
                  <a:srgbClr val="94A3B8"/>
                </a:solidFill>
                <a:latin typeface="Calibri"/>
              </a:rPr>
              <a:t>Molecular weight ratio (44/12)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4014704" y="23628096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4234160" y="23582376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ST-GNN TENSOR &amp; SPATIO-TEMPORAL OPERATOR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4014704" y="23984712"/>
            <a:ext cx="12204192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4197584" y="24094440"/>
            <a:ext cx="11838432" cy="2020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• Input Tensor: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X in R^(N x T x F) where N = 53 patch nodes, T = 3 lookback months, F = 35 multi-sensor physical features.
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• Spatial Graph Convolution: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A_hat = D_tilde^(-1/2) * A_tilde * D_tilde^(-1/2) passing messages across 86 tidal edges.
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• Temporal Recurrence: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Bidirectional LSTM capturing seasonal phenological cycles and lagged sedimentation dynamics.
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• 12-Month Autoregressive Forecast: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Horizon forecasting with empirical 95% confidence intervals satisfying Verra permanence.
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• Topo-Inductive Bias: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Captures non-local carbon transport that Euclidean CNNs and non-relational time-series miss.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4014704" y="26435304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4234160" y="26389584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CANDIDATE ARCHITECTURE ABLATION MATRIX</a:t>
            </a:r>
          </a:p>
        </p:txBody>
      </p:sp>
      <p:graphicFrame>
        <p:nvGraphicFramePr>
          <p:cNvPr id="117" name="Table 116"/>
          <p:cNvGraphicFramePr>
            <a:graphicFrameLocks noGrp="1"/>
          </p:cNvGraphicFramePr>
          <p:nvPr/>
        </p:nvGraphicFramePr>
        <p:xfrm>
          <a:off x="14014704" y="26791920"/>
          <a:ext cx="12204191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1257"/>
                <a:gridCol w="1342461"/>
                <a:gridCol w="1342461"/>
                <a:gridCol w="585801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Candidate Model</a:t>
                      </a:r>
                    </a:p>
                  </a:txBody>
                  <a:tcPr marL="109728" marR="109728" marT="54864" marB="54864" anchor="ctr">
                    <a:solidFill>
                      <a:srgbClr val="0818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Spatial</a:t>
                      </a:r>
                    </a:p>
                  </a:txBody>
                  <a:tcPr marL="109728" marR="109728" marT="54864" marB="54864" anchor="ctr">
                    <a:solidFill>
                      <a:srgbClr val="0818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Temporal</a:t>
                      </a:r>
                    </a:p>
                  </a:txBody>
                  <a:tcPr marL="109728" marR="109728" marT="54864" marB="54864" anchor="ctr">
                    <a:solidFill>
                      <a:srgbClr val="0818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Key Inductive Bias &amp; Mechanism</a:t>
                      </a:r>
                    </a:p>
                  </a:txBody>
                  <a:tcPr marL="109728" marR="109728" marT="54864" marB="54864" anchor="ctr">
                    <a:solidFill>
                      <a:srgbClr val="08183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Random Forest (Baseline 1)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Tabular feature bagging baseline (non-spatial, non-temporal)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Temporal LSTM (Baseline 2)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Sequential temporal recurrence per patch without spatial adjacency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Spatial GCN (Baseline 3)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Spatial graph convolution without temporal sequence recurrence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80" b="1">
                          <a:solidFill>
                            <a:srgbClr val="061122"/>
                          </a:solidFill>
                          <a:latin typeface="Calibri"/>
                        </a:rPr>
                        <a:t>ST-GNN (Proposed MCIP)</a:t>
                      </a:r>
                    </a:p>
                  </a:txBody>
                  <a:tcPr marL="109728" marR="109728" marT="54864" marB="54864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1">
                          <a:solidFill>
                            <a:srgbClr val="0611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R="109728" marT="54864" marB="54864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1">
                          <a:solidFill>
                            <a:srgbClr val="0611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R="109728" marT="54864" marB="54864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1">
                          <a:solidFill>
                            <a:srgbClr val="061122"/>
                          </a:solidFill>
                          <a:latin typeface="Calibri"/>
                        </a:rPr>
                        <a:t>Spatio-temporal message passing over 86 hydrodynamic tidal/sediment edges</a:t>
                      </a:r>
                    </a:p>
                  </a:txBody>
                  <a:tcPr marL="109728" marR="109728" marT="54864" marB="54864" anchor="ctr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18" name="Rectangle 117"/>
          <p:cNvSpPr/>
          <p:nvPr/>
        </p:nvSpPr>
        <p:spPr>
          <a:xfrm>
            <a:off x="14014704" y="29215080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4234160" y="29169360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SPATIO-TEMPORAL GRAPH MESSAGE PASSING OPERATOR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14014704" y="29571696"/>
            <a:ext cx="12204192" cy="2011680"/>
          </a:xfrm>
          <a:prstGeom prst="roundRect">
            <a:avLst>
              <a:gd name="adj" fmla="val 8000"/>
            </a:avLst>
          </a:prstGeom>
          <a:solidFill>
            <a:srgbClr val="0F2548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4197584" y="29663136"/>
            <a:ext cx="11838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0B4D8"/>
                </a:solidFill>
                <a:latin typeface="Calibri"/>
              </a:rPr>
              <a:t>MATHEMATICAL FORMULATION: HYDRODYNAMIC MESSAGE PASSING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4197584" y="29919168"/>
            <a:ext cx="11838432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0D284"/>
                </a:solidFill>
                <a:latin typeface="Consolas"/>
              </a:rPr>
              <a:t>H^(l+1) = sigma( D_tilde^(-1/2) * (A_topo . W_flux) * D_tilde^(-1/2) * H^(l) * Theta^(l) 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4197584" y="30358080"/>
            <a:ext cx="1183843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FFFFFF"/>
                </a:solidFill>
                <a:latin typeface="Calibri"/>
              </a:rPr>
              <a:t>• Topo-Weight Tensor (A_topo . W_flux): </a:t>
            </a:r>
            <a:r>
              <a:rPr sz="1280" b="0" i="0">
                <a:solidFill>
                  <a:srgbClr val="94A3B8"/>
                </a:solidFill>
                <a:latin typeface="Calibri"/>
              </a:rPr>
              <a:t>Direct Hadamard product scales topological edges by ebb/flood tidal velocities.
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FFFFFF"/>
                </a:solidFill>
                <a:latin typeface="Calibri"/>
              </a:rPr>
              <a:t>• Degree Renormalization: </a:t>
            </a:r>
            <a:r>
              <a:rPr sz="1280" b="0" i="0">
                <a:solidFill>
                  <a:srgbClr val="94A3B8"/>
                </a:solidFill>
                <a:latin typeface="Calibri"/>
              </a:rPr>
              <a:t>Symmetric normalization D_tilde prevents numerical explosion over dense creek channels.
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FFFFFF"/>
                </a:solidFill>
                <a:latin typeface="Calibri"/>
              </a:rPr>
              <a:t>• Parameter Matrix Theta^(l): </a:t>
            </a:r>
            <a:r>
              <a:rPr sz="1280" b="0" i="0">
                <a:solidFill>
                  <a:srgbClr val="94A3B8"/>
                </a:solidFill>
                <a:latin typeface="Calibri"/>
              </a:rPr>
              <a:t>Trainable transformation weights projecting multi-sensor embeddings to carbon state.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4014704" y="31793688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4234160" y="31747968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THEORETICAL INSIGHT: RESOLVING THE '1D ISLAND FALLACY'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4014704" y="32150304"/>
            <a:ext cx="12204192" cy="3282695"/>
          </a:xfrm>
          <a:prstGeom prst="roundRect">
            <a:avLst>
              <a:gd name="adj" fmla="val 8000"/>
            </a:avLst>
          </a:prstGeom>
          <a:solidFill>
            <a:srgbClr val="061122"/>
          </a:solidFill>
          <a:ln w="15240">
            <a:solidFill>
              <a:srgbClr val="00D2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4215872" y="32296608"/>
            <a:ext cx="11801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0D284"/>
                </a:solidFill>
                <a:latin typeface="Calibri"/>
              </a:rPr>
              <a:t>ALLOCHTHONOUS VS AUTOCHTHONOUS FLUX ATTRIBUTION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4215872" y="32607504"/>
            <a:ext cx="11801856" cy="27523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B4D8"/>
                </a:solidFill>
                <a:latin typeface="Calibri"/>
              </a:rPr>
              <a:t>• The 1D Island Fallacy: </a:t>
            </a:r>
            <a:r>
              <a:rPr sz="1320" b="0" i="0">
                <a:solidFill>
                  <a:srgbClr val="FFFFFF"/>
                </a:solidFill>
                <a:latin typeface="Calibri"/>
              </a:rPr>
              <a:t>Conventional remote sensing and isolated point-regression models treat mangrove stands as disconnected islands, incorrectly attributing tidal sediment accumulation to biological carbon sequestration.
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B4D8"/>
                </a:solidFill>
                <a:latin typeface="Calibri"/>
              </a:rPr>
              <a:t>• Hydrodynamic Message Passing: </a:t>
            </a:r>
            <a:r>
              <a:rPr sz="1320" b="0" i="0">
                <a:solidFill>
                  <a:srgbClr val="FFFFFF"/>
                </a:solidFill>
                <a:latin typeface="Calibri"/>
              </a:rPr>
              <a:t>ST-GNN resolves this fundamental bottleneck by propagating multi-sensor feature tensors across 86 directed hydrodynamic edges weighted by ebb/flood velocities along coastal tidal channels.
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B4D8"/>
                </a:solidFill>
                <a:latin typeface="Calibri"/>
              </a:rPr>
              <a:t>• Empirical Validation (Spring Flood Case): </a:t>
            </a:r>
            <a:r>
              <a:rPr sz="1320" b="0" i="0">
                <a:solidFill>
                  <a:srgbClr val="FFFFFF"/>
                </a:solidFill>
                <a:latin typeface="Calibri"/>
              </a:rPr>
              <a:t>Rigorously validated across coupled Patch 19 (barrier island) -&gt; Patch 25 (inner lagoon). During an extreme tidal surge, an 18% increase in SAR backscatter occurred with static optical NDVI (0.64).
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B4D8"/>
                </a:solidFill>
                <a:latin typeface="Calibri"/>
              </a:rPr>
              <a:t>• Verra VM0033 Integrity Enforcement: </a:t>
            </a:r>
            <a:r>
              <a:rPr sz="1320" b="0" i="0">
                <a:solidFill>
                  <a:srgbClr val="FFFFFF"/>
                </a:solidFill>
                <a:latin typeface="Calibri"/>
              </a:rPr>
              <a:t>ST-GNN correctly recognized the influx as allochthonous marine sediment deposition rather than autochthonous mangrove growth, withholding 142 unearned carbon credits and preventing fraudulent over-issuance.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7023568" y="5285231"/>
            <a:ext cx="12643104" cy="1005840"/>
          </a:xfrm>
          <a:prstGeom prst="roundRect">
            <a:avLst>
              <a:gd name="adj" fmla="val 15000"/>
            </a:avLst>
          </a:prstGeom>
          <a:solidFill>
            <a:srgbClr val="061122"/>
          </a:solidFill>
          <a:ln w="1524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7023568" y="5285231"/>
            <a:ext cx="201168" cy="10058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27343608" y="5458968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061122"/>
                </a:solidFill>
                <a:latin typeface="Calibri"/>
              </a:rPr>
              <a:t>03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8276296" y="5285231"/>
            <a:ext cx="1120749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BENCHMARKS, XAI &amp; COASTAL SENTINEL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243024" y="6501383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7462480" y="6455663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EMPIRICAL MODEL BENCHMARKING RESULTS</a:t>
            </a:r>
          </a:p>
        </p:txBody>
      </p:sp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27243024" y="6857999"/>
          <a:ext cx="12204188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3089"/>
                <a:gridCol w="3173089"/>
                <a:gridCol w="1586544"/>
                <a:gridCol w="1586544"/>
                <a:gridCol w="1342461"/>
                <a:gridCol w="1342461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Model Architecture</a:t>
                      </a:r>
                    </a:p>
                  </a:txBody>
                  <a:tcPr marL="109728" marR="109728" marT="54864" marB="54864" anchor="ctr">
                    <a:solidFill>
                      <a:srgbClr val="0818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Ablated Architectural Component</a:t>
                      </a:r>
                    </a:p>
                  </a:txBody>
                  <a:tcPr marL="109728" marR="109728" marT="54864" marB="54864" anchor="ctr">
                    <a:solidFill>
                      <a:srgbClr val="0818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RMSE (tCO2e/ha)</a:t>
                      </a:r>
                    </a:p>
                  </a:txBody>
                  <a:tcPr marL="109728" marR="109728" marT="54864" marB="54864" anchor="ctr">
                    <a:solidFill>
                      <a:srgbClr val="0818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MAE (tCO2e/ha)</a:t>
                      </a:r>
                    </a:p>
                  </a:txBody>
                  <a:tcPr marL="109728" marR="109728" marT="54864" marB="54864" anchor="ctr">
                    <a:solidFill>
                      <a:srgbClr val="0818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R² Score</a:t>
                      </a:r>
                    </a:p>
                  </a:txBody>
                  <a:tcPr marL="109728" marR="109728" marT="54864" marB="54864" anchor="ctr">
                    <a:solidFill>
                      <a:srgbClr val="0818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60" b="1">
                          <a:solidFill>
                            <a:srgbClr val="FFFFFF"/>
                          </a:solidFill>
                          <a:latin typeface="Calibri"/>
                        </a:rPr>
                        <a:t>Nash-Sutcliffe (NSE)</a:t>
                      </a:r>
                    </a:p>
                  </a:txBody>
                  <a:tcPr marL="109728" marR="109728" marT="54864" marB="54864" anchor="ctr">
                    <a:solidFill>
                      <a:srgbClr val="08183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Random Forest (Baseline 1)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Spatial Graph &amp; Temporal Recurrence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0.2430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0.1985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0.612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0.589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Temporal LSTM (Baseline 2)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Spatial Graph Convolutions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0.1685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0.1342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0.764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0.741</a:t>
                      </a:r>
                    </a:p>
                  </a:txBody>
                  <a:tcPr marL="109728" marR="109728" marT="54864" marB="54864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Spatial GCN (Baseline 3)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Temporal Sequence Recurrence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0.1412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0.1150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0.808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0">
                          <a:solidFill>
                            <a:srgbClr val="0F172A"/>
                          </a:solidFill>
                          <a:latin typeface="Calibri"/>
                        </a:rPr>
                        <a:t>0.792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80" b="1">
                          <a:solidFill>
                            <a:srgbClr val="061122"/>
                          </a:solidFill>
                          <a:latin typeface="Calibri"/>
                        </a:rPr>
                        <a:t>ST-GNN (Proposed MCIP)</a:t>
                      </a:r>
                    </a:p>
                  </a:txBody>
                  <a:tcPr marL="109728" marR="109728" marT="54864" marB="54864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1">
                          <a:solidFill>
                            <a:srgbClr val="061122"/>
                          </a:solidFill>
                          <a:latin typeface="Calibri"/>
                        </a:rPr>
                        <a:t>None (Full Spatio-Temporal Topology)</a:t>
                      </a:r>
                    </a:p>
                  </a:txBody>
                  <a:tcPr marL="109728" marR="109728" marT="54864" marB="54864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1">
                          <a:solidFill>
                            <a:srgbClr val="061122"/>
                          </a:solidFill>
                          <a:latin typeface="Calibri"/>
                        </a:rPr>
                        <a:t>0.0874</a:t>
                      </a:r>
                    </a:p>
                  </a:txBody>
                  <a:tcPr marL="109728" marR="109728" marT="54864" marB="54864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1">
                          <a:solidFill>
                            <a:srgbClr val="061122"/>
                          </a:solidFill>
                          <a:latin typeface="Calibri"/>
                        </a:rPr>
                        <a:t>0.0740</a:t>
                      </a:r>
                    </a:p>
                  </a:txBody>
                  <a:tcPr marL="109728" marR="109728" marT="54864" marB="54864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1">
                          <a:solidFill>
                            <a:srgbClr val="061122"/>
                          </a:solidFill>
                          <a:latin typeface="Calibri"/>
                        </a:rPr>
                        <a:t>0.912</a:t>
                      </a:r>
                    </a:p>
                  </a:txBody>
                  <a:tcPr marL="109728" marR="109728" marT="54864" marB="54864" anchor="ctr">
                    <a:solidFill>
                      <a:srgbClr val="D1FA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80" b="1">
                          <a:solidFill>
                            <a:srgbClr val="061122"/>
                          </a:solidFill>
                          <a:latin typeface="Calibri"/>
                        </a:rPr>
                        <a:t>0.895</a:t>
                      </a:r>
                    </a:p>
                  </a:txBody>
                  <a:tcPr marL="109728" marR="109728" marT="54864" marB="54864" anchor="ctr"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36" name="Rounded Rectangle 135"/>
          <p:cNvSpPr/>
          <p:nvPr/>
        </p:nvSpPr>
        <p:spPr>
          <a:xfrm>
            <a:off x="27243024" y="9418319"/>
            <a:ext cx="12204192" cy="1691640"/>
          </a:xfrm>
          <a:prstGeom prst="roundRect">
            <a:avLst>
              <a:gd name="adj" fmla="val 10000"/>
            </a:avLst>
          </a:prstGeom>
          <a:solidFill>
            <a:srgbClr val="061122"/>
          </a:solidFill>
          <a:ln w="19050">
            <a:solidFill>
              <a:srgbClr val="00D2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7444192" y="9546336"/>
            <a:ext cx="11801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D284"/>
                </a:solidFill>
                <a:latin typeface="Calibri"/>
              </a:rPr>
              <a:t>KEY BENCHMARK FINDING: STATISTICAL SUPERIORITY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7444192" y="9857232"/>
            <a:ext cx="11801856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0" i="0">
                <a:solidFill>
                  <a:srgbClr val="FFFFFF"/>
                </a:solidFill>
                <a:latin typeface="Calibri"/>
              </a:rPr>
              <a:t>ST-GNN achieves a 64.0% lower RMSE (0.0874 vs 0.2430 tCO2e/ha) than Random Forest, 48.1% lower than LSTM, and 38.1% lower than Spatial GCN. Super-additive gain (R² = 0.912, NSE = 0.895) proves that coastal blue carbon dynamics depend fundamentally on inseparable spatio-temporal interactions.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7243024" y="11320272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7462480" y="11274551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SHAP CAUSAL FEATURE ATTRIBUTION (VM0033 AUDIT)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7243024" y="11676887"/>
            <a:ext cx="12204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Sentinel-2 NDVI (Photosynthetic Canopy Vigor)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7243024" y="11932919"/>
            <a:ext cx="9643872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27243024" y="11932919"/>
            <a:ext cx="3664671" cy="237744"/>
          </a:xfrm>
          <a:prstGeom prst="roundRect">
            <a:avLst>
              <a:gd name="adj" fmla="val 30000"/>
            </a:avLst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7024056" y="11896343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38% Contribution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7243024" y="12225527"/>
            <a:ext cx="12204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Sentinel-1 SAR VV Backscatter (Woody Biomass &amp; Density)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7243024" y="12481559"/>
            <a:ext cx="9643872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27243024" y="12481559"/>
            <a:ext cx="2796722" cy="237744"/>
          </a:xfrm>
          <a:prstGeom prst="roundRect">
            <a:avLst>
              <a:gd name="adj" fmla="val 30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7024056" y="12444983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29% Contribution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7243024" y="12774167"/>
            <a:ext cx="12204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NASA GEDI LiDAR RH100 (100th Percentile Canopy Height)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27243024" y="13030199"/>
            <a:ext cx="9643872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27243024" y="13030199"/>
            <a:ext cx="2025213" cy="237744"/>
          </a:xfrm>
          <a:prstGeom prst="roundRect">
            <a:avLst>
              <a:gd name="adj" fmla="val 30000"/>
            </a:avLst>
          </a:prstGeom>
          <a:solidFill>
            <a:srgbClr val="1633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7024056" y="12993623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21% Contribution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7243024" y="13322807"/>
            <a:ext cx="12204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NASA GEDI PAI (Plant Area Index &amp; Foliage Density)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7243024" y="13578839"/>
            <a:ext cx="9643872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27243024" y="13578839"/>
            <a:ext cx="771509" cy="237744"/>
          </a:xfrm>
          <a:prstGeom prst="roundRect">
            <a:avLst>
              <a:gd name="adj" fmla="val 30000"/>
            </a:avLst>
          </a:prstGeom>
          <a:solidFill>
            <a:srgbClr val="FAB0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7024056" y="13542263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8% Contribution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7243024" y="13871447"/>
            <a:ext cx="122041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F172A"/>
                </a:solidFill>
                <a:latin typeface="Calibri"/>
              </a:rPr>
              <a:t>Hydrodynamic Tidal Connectivity (Sediment Flow Vectors)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27243024" y="14127479"/>
            <a:ext cx="9643872" cy="237744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27243024" y="14127479"/>
            <a:ext cx="385754" cy="237744"/>
          </a:xfrm>
          <a:prstGeom prst="roundRect">
            <a:avLst>
              <a:gd name="adj" fmla="val 3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7024056" y="14090903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4% Contribution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7243024" y="14630399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7462480" y="14584679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COASTAL SENTINEL: PRODUCTION PLATFORM &amp; XAI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27243024" y="14987015"/>
            <a:ext cx="12204192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fig4_platform_x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675840" y="15096743"/>
            <a:ext cx="11338560" cy="3154680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27471624" y="18324575"/>
            <a:ext cx="1174699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61122"/>
                </a:solidFill>
                <a:latin typeface="Calibri"/>
              </a:rPr>
              <a:t>Figure 4: Coastal Sentinel Live Production MRV Platform &amp; Auditor-Ready XAI Specialist. </a:t>
            </a:r>
            <a:r>
              <a:rPr sz="1320" b="0" i="0">
                <a:solidFill>
                  <a:srgbClr val="475569"/>
                </a:solidFill>
                <a:latin typeface="Calibri"/>
              </a:rPr>
              <a:t>(A) Executive MRV Dashboard monitoring 53 verified patches across the UAE coast (562.8k tCO2e stock, $35/tCO2e valuation). (B) Explainable AI Conversational Specialist converting SHAP tensors and weather reanalysis into natural language audit trails via Google Genkit and Gemini 2.5 Flash.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7243024" y="19723607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7462480" y="19677887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AUTONOMOUS ALERTS &amp; VERRA VM0033 AUDIT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27243024" y="20080223"/>
            <a:ext cx="5987796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7407616" y="20208239"/>
            <a:ext cx="56586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61122"/>
                </a:solidFill>
                <a:latin typeface="Calibri"/>
              </a:rPr>
              <a:t>AUTONOMOUS ALERT ENGINE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7407616" y="20500848"/>
            <a:ext cx="5658612" cy="2267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61122"/>
                </a:solidFill>
                <a:latin typeface="Calibri"/>
              </a:rPr>
              <a:t>• Level 1 (5–10%): </a:t>
            </a:r>
            <a:r>
              <a:rPr sz="1280" b="0" i="0">
                <a:solidFill>
                  <a:srgbClr val="0F172A"/>
                </a:solidFill>
                <a:latin typeface="Calibri"/>
              </a:rPr>
              <a:t>Informational anomaly telemetry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61122"/>
                </a:solidFill>
                <a:latin typeface="Calibri"/>
              </a:rPr>
              <a:t>• Level 2 (10–20%): </a:t>
            </a:r>
            <a:r>
              <a:rPr sz="1280" b="0" i="0">
                <a:solidFill>
                  <a:srgbClr val="0F172A"/>
                </a:solidFill>
                <a:latin typeface="Calibri"/>
              </a:rPr>
              <a:t>Warning + SHAP causal narrative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61122"/>
                </a:solidFill>
                <a:latin typeface="Calibri"/>
              </a:rPr>
              <a:t>• Level 3 (&gt;20%): </a:t>
            </a:r>
            <a:r>
              <a:rPr sz="1280" b="0" i="0">
                <a:solidFill>
                  <a:srgbClr val="0F172A"/>
                </a:solidFill>
                <a:latin typeface="Calibri"/>
              </a:rPr>
              <a:t>Critical canopy stress intervention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61122"/>
                </a:solidFill>
                <a:latin typeface="Calibri"/>
              </a:rPr>
              <a:t>• Proactive Scanning: </a:t>
            </a:r>
            <a:r>
              <a:rPr sz="1280" b="0" i="0">
                <a:solidFill>
                  <a:srgbClr val="0F172A"/>
                </a:solidFill>
                <a:latin typeface="Calibri"/>
              </a:rPr>
              <a:t>Forward looking via weather reanalysis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61122"/>
                </a:solidFill>
                <a:latin typeface="Calibri"/>
              </a:rPr>
              <a:t>• Heartbeat Daemon: </a:t>
            </a:r>
            <a:r>
              <a:rPr sz="1280" b="0" i="0">
                <a:solidFill>
                  <a:srgbClr val="0F172A"/>
                </a:solidFill>
                <a:latin typeface="Calibri"/>
              </a:rPr>
              <a:t>Continuous 10-minute keep-alive pings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33459420" y="20080223"/>
            <a:ext cx="5987796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3624012" y="20208239"/>
            <a:ext cx="565861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61122"/>
                </a:solidFill>
                <a:latin typeface="Calibri"/>
              </a:rPr>
              <a:t>VERRA VM0033 COMPLIANCE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3624012" y="20500848"/>
            <a:ext cx="5658612" cy="2267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61122"/>
                </a:solidFill>
                <a:latin typeface="Calibri"/>
              </a:rPr>
              <a:t>• Baseline Additionality: </a:t>
            </a:r>
            <a:r>
              <a:rPr sz="1280" b="0" i="0">
                <a:solidFill>
                  <a:srgbClr val="0F172A"/>
                </a:solidFill>
                <a:latin typeface="Calibri"/>
              </a:rPr>
              <a:t>Automated historical baseline counterfactual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61122"/>
                </a:solidFill>
                <a:latin typeface="Calibri"/>
              </a:rPr>
              <a:t>• 100-Yr Permanence: </a:t>
            </a:r>
            <a:r>
              <a:rPr sz="1280" b="0" i="0">
                <a:solidFill>
                  <a:srgbClr val="0F172A"/>
                </a:solidFill>
                <a:latin typeface="Calibri"/>
              </a:rPr>
              <a:t>10–20% dynamic risk buffer allocation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61122"/>
                </a:solidFill>
                <a:latin typeface="Calibri"/>
              </a:rPr>
              <a:t>• Audit Dossiers: </a:t>
            </a:r>
            <a:r>
              <a:rPr sz="1280" b="0" i="0">
                <a:solidFill>
                  <a:srgbClr val="0F172A"/>
                </a:solidFill>
                <a:latin typeface="Calibri"/>
              </a:rPr>
              <a:t>1-Click investor-ready PDF generation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61122"/>
                </a:solidFill>
                <a:latin typeface="Calibri"/>
              </a:rPr>
              <a:t>• Sovereign Hosting: </a:t>
            </a:r>
            <a:r>
              <a:rPr sz="1280" b="0" i="0">
                <a:solidFill>
                  <a:srgbClr val="0F172A"/>
                </a:solidFill>
                <a:latin typeface="Calibri"/>
              </a:rPr>
              <a:t>UAE cloud localization in me-central1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61122"/>
                </a:solidFill>
                <a:latin typeface="Calibri"/>
              </a:rPr>
              <a:t>• Cryptographic Ledger: </a:t>
            </a:r>
            <a:r>
              <a:rPr sz="1280" b="0" i="0">
                <a:solidFill>
                  <a:srgbClr val="0F172A"/>
                </a:solidFill>
                <a:latin typeface="Calibri"/>
              </a:rPr>
              <a:t>SHA-256 verifiable hash certificates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27243024" y="22988015"/>
            <a:ext cx="12204192" cy="2011680"/>
          </a:xfrm>
          <a:prstGeom prst="roundRect">
            <a:avLst>
              <a:gd name="adj" fmla="val 8000"/>
            </a:avLst>
          </a:prstGeom>
          <a:solidFill>
            <a:srgbClr val="061122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7425904" y="23116031"/>
            <a:ext cx="11838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20" b="1" i="0">
                <a:solidFill>
                  <a:srgbClr val="00B4D8"/>
                </a:solidFill>
                <a:latin typeface="Calibri"/>
              </a:rPr>
              <a:t>COASTAL SENTINEL PRODUCTION SYSTEM BENCHMARKS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7380184" y="23390352"/>
            <a:ext cx="2913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0D284"/>
                </a:solidFill>
                <a:latin typeface="Calibri"/>
              </a:rPr>
              <a:t>&lt; 600ms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7380184" y="23902415"/>
            <a:ext cx="29138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20" b="0" i="0">
                <a:solidFill>
                  <a:srgbClr val="94A3B8"/>
                </a:solidFill>
                <a:latin typeface="Calibri"/>
              </a:rPr>
              <a:t>API Response Latency
(FastAPI me-central1)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0385512" y="23390352"/>
            <a:ext cx="2913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68 Months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0385512" y="23902415"/>
            <a:ext cx="29138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20" b="0" i="0">
                <a:solidFill>
                  <a:srgbClr val="94A3B8"/>
                </a:solidFill>
                <a:latin typeface="Calibri"/>
              </a:rPr>
              <a:t>Continuous Satellite Depth
(Jan 2021 – Aug 2026)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3390840" y="23390352"/>
            <a:ext cx="2913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00D284"/>
                </a:solidFill>
                <a:latin typeface="Calibri"/>
              </a:rPr>
              <a:t>53 Patches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3390840" y="23902415"/>
            <a:ext cx="29138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20" b="0" i="0">
                <a:solidFill>
                  <a:srgbClr val="94A3B8"/>
                </a:solidFill>
                <a:latin typeface="Calibri"/>
              </a:rPr>
              <a:t>DBSCAN Monitored Nodes
Across UAE Coastline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6396168" y="23390352"/>
            <a:ext cx="29138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1-Click PDF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6396168" y="23902415"/>
            <a:ext cx="291388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20" b="0" i="0">
                <a:solidFill>
                  <a:srgbClr val="94A3B8"/>
                </a:solidFill>
                <a:latin typeface="Calibri"/>
              </a:rPr>
              <a:t>Verra VM0033 Dossier
Automated Issuance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7243024" y="25210007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7462480" y="25164287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ENTERPRISE CLOUD ARCHITECTURE &amp; SOVEREIGN GOVERNANCE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27243024" y="25566623"/>
            <a:ext cx="12204192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7425904" y="25694639"/>
            <a:ext cx="11838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ENTERPRISE FULL-STACK TOPOLOGY (RENDER + VERCEL EDGE)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7425904" y="26005535"/>
            <a:ext cx="11838432" cy="2002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• Decoupled Architecture: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Next.js 15 App Router + React 19 on Vercel Serverless Edge, paired with PyTorch Geometric + FastAPI backend on Render.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• Sovereign Data Governance: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Full data localization in Google Cloud me-central1 (Doha/Dammam) adhering to UAE Federal Decree-Law No. 45/2021.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• Scalable Microservices: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Sub-600ms query execution across 53 patches, providing live telemetry modals and 12-month projections.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7243024" y="28291535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7462480" y="28245815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VERRA VM0033 DIGITAL MRV INTEGRITY &amp; CRYPTOGRAPHIC LEDGER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27243024" y="28648152"/>
            <a:ext cx="12204192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7425904" y="28776168"/>
            <a:ext cx="11838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IMMUTABLE AUDIT TRAIL &amp; METHODOLOGICAL COMPLIANCE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7425904" y="29087064"/>
            <a:ext cx="11838432" cy="2185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• Cryptographic SHA-256 Hashing: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Every monthly carbon stock calculation (562.8k tCO2e across 53 patches) generates a tamper-evident digital certificate.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• Additionality &amp; Permanence: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Enforces historical baseline modeling and 100-year permanence buffers (10–20%), preventing credit over-issuance.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• 1-Click Institutional PDF Dossiers: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Automates generation of investor-grade audit reports compliant with international carbon registries.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• High-Trust Verification: </a:t>
            </a:r>
            <a:r>
              <a:rPr sz="1320" b="0" i="0">
                <a:solidFill>
                  <a:srgbClr val="0F172A"/>
                </a:solidFill>
                <a:latin typeface="Calibri"/>
              </a:rPr>
              <a:t>Eliminates commercial fraud and greenwashing by linking credit tokens directly to verified Copernicus telemetry.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7243024" y="31555944"/>
            <a:ext cx="128016" cy="31089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27462480" y="31510224"/>
            <a:ext cx="119847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061122"/>
                </a:solidFill>
                <a:latin typeface="Calibri"/>
              </a:rPr>
              <a:t>AUTONOMOUS CRON ORCHESTRATION &amp; CADENCE SPECS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27243024" y="31912560"/>
            <a:ext cx="12204192" cy="3520440"/>
          </a:xfrm>
          <a:prstGeom prst="roundRect">
            <a:avLst>
              <a:gd name="adj" fmla="val 8000"/>
            </a:avLst>
          </a:prstGeom>
          <a:solidFill>
            <a:srgbClr val="061122"/>
          </a:solidFill>
          <a:ln w="15240">
            <a:solidFill>
              <a:srgbClr val="00D2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27444192" y="32058863"/>
            <a:ext cx="118018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0D284"/>
                </a:solidFill>
                <a:latin typeface="Calibri"/>
              </a:rPr>
              <a:t>AUTONOMOUS CRON ORCHESTRATION &amp; CADENCE SPECIFICATIONS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7444192" y="32388048"/>
            <a:ext cx="11801856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B4D8"/>
                </a:solidFill>
                <a:latin typeface="Calibri"/>
              </a:rPr>
              <a:t>• 10-Minute Keep-Alive Heartbeat: </a:t>
            </a:r>
            <a:r>
              <a:rPr sz="1320" b="0" i="0">
                <a:solidFill>
                  <a:srgbClr val="FFFFFF"/>
                </a:solidFill>
                <a:latin typeface="Calibri"/>
              </a:rPr>
              <a:t>Autonomous external daemon hits /api/health every 600s, eliminating Render container cold starts and slashing latency from 45.2s to 420ms (99.1% latency improvement).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B4D8"/>
                </a:solidFill>
                <a:latin typeface="Calibri"/>
              </a:rPr>
              <a:t>• Daily Coastal Threat Scanner: </a:t>
            </a:r>
            <a:r>
              <a:rPr sz="1320" b="0" i="0">
                <a:solidFill>
                  <a:srgbClr val="FFFFFF"/>
                </a:solidFill>
                <a:latin typeface="Calibri"/>
              </a:rPr>
              <a:t>Configured daily at 00:00 UTC via GET /api/alerts/trigger-daily across all 53 patches, recalculating daily anomaly indices and environmental risk thresholds.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B4D8"/>
                </a:solidFill>
                <a:latin typeface="Calibri"/>
              </a:rPr>
              <a:t>• Monthly 28th-Day MRV Sync: </a:t>
            </a:r>
            <a:r>
              <a:rPr sz="1320" b="0" i="0">
                <a:solidFill>
                  <a:srgbClr val="FFFFFF"/>
                </a:solidFill>
                <a:latin typeface="Calibri"/>
              </a:rPr>
              <a:t>Synchronizes with Copernicus satellite orbits on the 28th at 02:00 UTC, executing automated cloud masking, GEDI imputation, and ST-GNN inference in 50.6 seconds.
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0B4D8"/>
                </a:solidFill>
                <a:latin typeface="Calibri"/>
              </a:rPr>
              <a:t>• Production Deployments: </a:t>
            </a:r>
            <a:r>
              <a:rPr sz="1320" b="0" i="0">
                <a:solidFill>
                  <a:srgbClr val="FFFFFF"/>
                </a:solidFill>
                <a:latin typeface="Calibri"/>
              </a:rPr>
              <a:t>Live web client operational at https://coastal-sentinel-web.vercel.app with containerized API services running at https://coastal-sentinel-api-lbza.onrender.com.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457200" y="35661600"/>
            <a:ext cx="19476720" cy="3840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20299680" y="35661600"/>
            <a:ext cx="19476720" cy="3840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566928" y="35826192"/>
            <a:ext cx="19257264" cy="1005840"/>
          </a:xfrm>
          <a:prstGeom prst="roundRect">
            <a:avLst>
              <a:gd name="adj" fmla="val 15000"/>
            </a:avLst>
          </a:prstGeom>
          <a:solidFill>
            <a:srgbClr val="061122"/>
          </a:solidFill>
          <a:ln w="1524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928" y="35826192"/>
            <a:ext cx="201168" cy="10058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ounded Rectangle 202"/>
          <p:cNvSpPr/>
          <p:nvPr/>
        </p:nvSpPr>
        <p:spPr>
          <a:xfrm>
            <a:off x="886968" y="35999928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061122"/>
                </a:solidFill>
                <a:latin typeface="Calibri"/>
              </a:rPr>
              <a:t>04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819656" y="35826192"/>
            <a:ext cx="178216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CONCLUSIONS &amp; SCIENTIFIC CONTRIBUTIONS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786384" y="3705148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61122"/>
                </a:solidFill>
              </a:rPr>
              <a:t>✓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261872" y="37014912"/>
            <a:ext cx="1830628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Empirical Superiority: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ST-GNN outperforms Random Forest, LSTM, and GCN on RMSE (0.0874 tCO2e/ha), MAE (0.0740), R² (0.912) and NSE (0.895), proving spatial topology and temporal dynamics together drive accurate blue carbon MRV.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786384" y="374904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61122"/>
                </a:solidFill>
              </a:rPr>
              <a:t>✓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261872" y="37453824"/>
            <a:ext cx="1830628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Hydrodynamic Innovation: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Novel 86-edge directed graph models sediment transport, capturing allochthonous vs autochthonous carbon exchange without destructive physical sediment coring.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786384" y="379293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61122"/>
                </a:solidFill>
              </a:rPr>
              <a:t>✓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261872" y="37892736"/>
            <a:ext cx="1830628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Arid-Coast Imputation: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Transfer learning from Sundarbans to UAE arid mangroves resolves GEDI LiDAR sparsity (~4%/mo), establishing the first 68-month continuous canopy height series in the Gulf (rh100 RMSE = 3.13 m).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786384" y="38368223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61122"/>
                </a:solidFill>
              </a:rPr>
              <a:t>✓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261872" y="38331647"/>
            <a:ext cx="1830628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380" b="1" i="0">
                <a:solidFill>
                  <a:srgbClr val="061122"/>
                </a:solidFill>
                <a:latin typeface="Calibri"/>
              </a:rPr>
              <a:t>Commercial Democratization: 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Replaces $120K manual field surveys with automated digital audits, cutting verification costs by 70% and unlocking UAE mangroves on the $2B Voluntary Carbon Market.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786384" y="38825423"/>
            <a:ext cx="18818352" cy="530352"/>
          </a:xfrm>
          <a:prstGeom prst="roundRect">
            <a:avLst>
              <a:gd name="adj" fmla="val 8000"/>
            </a:avLst>
          </a:prstGeom>
          <a:solidFill>
            <a:srgbClr val="061122"/>
          </a:solidFill>
          <a:ln w="1016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69264" y="38880287"/>
            <a:ext cx="1845259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0B4D8"/>
                </a:solidFill>
                <a:latin typeface="Calibri"/>
              </a:rPr>
              <a:t>FUTURE WORK: </a:t>
            </a:r>
            <a:r>
              <a:rPr sz="1280" b="0" i="0">
                <a:solidFill>
                  <a:srgbClr val="FFFFFF"/>
                </a:solidFill>
                <a:latin typeface="Calibri"/>
              </a:rPr>
              <a:t>Sentinel-3 ocean color coupling  •  Hyperspectral CHIME expansion  •  Saltmarsh &amp; Seagrass scope  •  Edge mobile surveyor app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20409408" y="35826192"/>
            <a:ext cx="19257264" cy="1005840"/>
          </a:xfrm>
          <a:prstGeom prst="roundRect">
            <a:avLst>
              <a:gd name="adj" fmla="val 15000"/>
            </a:avLst>
          </a:prstGeom>
          <a:solidFill>
            <a:srgbClr val="061122"/>
          </a:solidFill>
          <a:ln w="1524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20409408" y="35826192"/>
            <a:ext cx="201168" cy="10058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20729448" y="35999928"/>
            <a:ext cx="658368" cy="658368"/>
          </a:xfrm>
          <a:prstGeom prst="roundRect">
            <a:avLst>
              <a:gd name="adj" fmla="val 50000"/>
            </a:avLst>
          </a:prstGeom>
          <a:solidFill>
            <a:srgbClr val="00D2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061122"/>
                </a:solidFill>
                <a:latin typeface="Calibri"/>
              </a:rPr>
              <a:t>05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1662136" y="35826192"/>
            <a:ext cx="178216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FFFFFF"/>
                </a:solidFill>
                <a:latin typeface="Calibri"/>
              </a:rPr>
              <a:t>REFERENCES &amp; REPRODUCIBILITY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0628864" y="37014912"/>
            <a:ext cx="13743432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1122"/>
                </a:solidFill>
                <a:latin typeface="Calibri"/>
              </a:rPr>
              <a:t>[1] Global Warming / Blue Carbon: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Macreadie, P.I. et al. (2021). Blue carbon as a natural climate solution. Nature Reviews Earth &amp; Environment, 2(12), pp. 826–839.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0628864" y="37353240"/>
            <a:ext cx="13743432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1122"/>
                </a:solidFill>
                <a:latin typeface="Calibri"/>
              </a:rPr>
              <a:t>[2] UAE Announcement / Policy: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MOCCAE (2023). UAE National Blue Carbon Programme: COP28 Progress Report. Ministry of Climate Change and Environment, Dubai, UAE.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0628864" y="37691568"/>
            <a:ext cx="13743432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1122"/>
                </a:solidFill>
                <a:latin typeface="Calibri"/>
              </a:rPr>
              <a:t>[3] Sentinel-1 SAR Coastal Radar: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Melo, J. et al. (2022). Integrating Sentinel-1 and Sentinel-2 for mangrove mapping in arid coastal zones. ISPRS J. Photogramm. Remote Sens., 188, pp. 145–160.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0628864" y="38029896"/>
            <a:ext cx="13743432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1122"/>
                </a:solidFill>
                <a:latin typeface="Calibri"/>
              </a:rPr>
              <a:t>[4] Sentinel-2 Multispectral: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Pham, T.D. et al. (2019). Estimating and mapping above-ground biomass of mangrove species using Sentinel-2 and machine learning. GISci. Remote Sens., 56(3), pp. 352–375.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0628864" y="38368223"/>
            <a:ext cx="13743432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1122"/>
                </a:solidFill>
                <a:latin typeface="Calibri"/>
              </a:rPr>
              <a:t>[5] NASA GEDI Spaceborne LiDAR: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Dubayah, R. et al. (2020). The Global Ecosystem Dynamics Investigation: High-resolution laser ranging of forest canopies. Science of Remote Sensing, 1, 100002.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0628864" y="38706551"/>
            <a:ext cx="13743432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1122"/>
                </a:solidFill>
                <a:latin typeface="Calibri"/>
              </a:rPr>
              <a:t>[6] Graph Neural Networks (GNN):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Kipf, T.N. &amp; Welling, M. (2017). Semi-supervised classification with graph convolutional networks. 5th Int. Conf. on Learning Representations (ICLR 2017).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0628864" y="39044879"/>
            <a:ext cx="13743432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61122"/>
                </a:solidFill>
                <a:latin typeface="Calibri"/>
              </a:rPr>
              <a:t>[7] Spatio-Temporal GNN (ST-GNN): </a:t>
            </a:r>
            <a:r>
              <a:rPr sz="1200" b="0" i="0">
                <a:solidFill>
                  <a:srgbClr val="0F172A"/>
                </a:solidFill>
                <a:latin typeface="Calibri"/>
              </a:rPr>
              <a:t>Yu, B., Yin, H. &amp; Zhu, Z. (2018). Spatio-temporal graph convolutional networks: A deep learning framework for traffic forecasting. 27th IJCAI, pp. 3634–3640.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34692336" y="36393120"/>
            <a:ext cx="475488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34692336" y="36502847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61122"/>
                </a:solidFill>
                <a:latin typeface="Calibri"/>
              </a:rPr>
              <a:t>REPRODUCIBILITY &amp; CODE</a:t>
            </a:r>
          </a:p>
        </p:txBody>
      </p:sp>
      <p:pic>
        <p:nvPicPr>
          <p:cNvPr id="228" name="Picture 227" descr="qr_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78236" y="36813744"/>
            <a:ext cx="1783080" cy="1783080"/>
          </a:xfrm>
          <a:prstGeom prst="rect">
            <a:avLst/>
          </a:prstGeom>
        </p:spPr>
      </p:pic>
      <p:sp>
        <p:nvSpPr>
          <p:cNvPr id="229" name="TextBox 228"/>
          <p:cNvSpPr txBox="1"/>
          <p:nvPr/>
        </p:nvSpPr>
        <p:spPr>
          <a:xfrm>
            <a:off x="34783776" y="38642544"/>
            <a:ext cx="45720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1122"/>
                </a:solidFill>
                <a:latin typeface="Calibri"/>
              </a:rPr>
              <a:t>Scan for GitHub Repository &amp; Live Pipeline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120" b="0" i="0">
                <a:solidFill>
                  <a:srgbClr val="475569"/>
                </a:solidFill>
                <a:latin typeface="Calibri"/>
              </a:rPr>
              <a:t>Open-Source Models • Colab Notebooks • Verra Dossiers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0" y="39639240"/>
            <a:ext cx="40233600" cy="594359"/>
          </a:xfrm>
          <a:prstGeom prst="rect">
            <a:avLst/>
          </a:prstGeom>
          <a:solidFill>
            <a:srgbClr val="0611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0" y="39639240"/>
            <a:ext cx="40233600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457200" y="397489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MSc Data Science &amp; Artificial Intelligence  |  CST4090 Post-Graduate Thesis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00B4D8"/>
                </a:solidFill>
                <a:latin typeface="Calibri"/>
              </a:rPr>
              <a:t>Middlesex University Dubai  •  Department of Computer Engineering &amp; Informatics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1887200" y="39767256"/>
            <a:ext cx="16459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Author: Narendra Gandikota (NG661@live.mdx.ac.uk)  •  Supervisor: Dr. Krishnadas Nanath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29260800" y="397489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Dubai Knowledge Park, Blocks 16, 17, 19  •  Dubai, UAE</a:t>
            </a:r>
          </a:p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0D284"/>
                </a:solidFill>
                <a:latin typeface="Calibri"/>
              </a:rPr>
              <a:t>Published: October 2026  •  Verra VM0033 Compliant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